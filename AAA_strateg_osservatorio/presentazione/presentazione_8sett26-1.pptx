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1"/>
  </p:notesMasterIdLst>
  <p:sldIdLst>
    <p:sldId id="277" r:id="rId2"/>
    <p:sldId id="266" r:id="rId3"/>
    <p:sldId id="256" r:id="rId4"/>
    <p:sldId id="272" r:id="rId5"/>
    <p:sldId id="263" r:id="rId6"/>
    <p:sldId id="282" r:id="rId7"/>
    <p:sldId id="278" r:id="rId8"/>
    <p:sldId id="279" r:id="rId9"/>
    <p:sldId id="269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E4F5"/>
    <a:srgbClr val="76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Stile chi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ile chiaro 3 - Color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31"/>
    <p:restoredTop sz="96260"/>
  </p:normalViewPr>
  <p:slideViewPr>
    <p:cSldViewPr snapToGrid="0" snapToObjects="1">
      <p:cViewPr varScale="1">
        <p:scale>
          <a:sx n="168" d="100"/>
          <a:sy n="168" d="100"/>
        </p:scale>
        <p:origin x="76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6" d="100"/>
          <a:sy n="116" d="100"/>
        </p:scale>
        <p:origin x="519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D93BC-3BD5-2944-8B2C-FCA369B68E0C}" type="datetimeFigureOut">
              <a:rPr lang="it-IT" smtClean="0"/>
              <a:t>09/09/26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632EB-A489-BA4E-9080-C267E3AABB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2196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Quando mi avete invitato a proporre una strategia per l’Osservatorio, mi sono sempre più convinta che l’aspetto della </a:t>
            </a:r>
            <a:r>
              <a:rPr lang="it-IT" b="1" dirty="0"/>
              <a:t>governance dei dati </a:t>
            </a:r>
            <a:r>
              <a:rPr lang="it-IT" dirty="0"/>
              <a:t>è al fondamento di tutto e siamo in un frangente può favorire questa revisione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9192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DAL MIO PUNTO DI VISTA, </a:t>
            </a:r>
            <a:r>
              <a:rPr lang="it-IT" b="1" dirty="0"/>
              <a:t>la Fondazione ha un patrimonio di dati che però è molto difficile sfruttare</a:t>
            </a:r>
            <a:r>
              <a:rPr lang="it-IT" dirty="0"/>
              <a:t>. (Forse questa è l’esperienza arrivando da fuori) ma è stato molto complesso (che non è solo il fatto che i dati sono sparpagliati su piattaforme diverse, ma è anche che molte informazioni sui dati non sono trasparenti = le capisci solo se uno te le spiega… non dovrebbe essere cosi) </a:t>
            </a:r>
          </a:p>
          <a:p>
            <a:r>
              <a:rPr lang="it-IT" dirty="0"/>
              <a:t> </a:t>
            </a:r>
          </a:p>
          <a:p>
            <a:r>
              <a:rPr lang="it-IT" dirty="0"/>
              <a:t>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778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it-IT" sz="1200" b="1" i="0" dirty="0">
                <a:solidFill>
                  <a:srgbClr val="5A4A12"/>
                </a:solidFill>
                <a:latin typeface="Calibri"/>
              </a:rPr>
              <a:t>Qui chiaramente c’è molto da verificare poi più in dettaglio, però </a:t>
            </a:r>
          </a:p>
          <a:p>
            <a:pPr algn="l"/>
            <a:endParaRPr lang="it-IT" sz="1200" b="1" i="0" dirty="0">
              <a:solidFill>
                <a:srgbClr val="5A4A12"/>
              </a:solidFill>
              <a:latin typeface="Calibri"/>
            </a:endParaRPr>
          </a:p>
          <a:p>
            <a:pPr algn="l"/>
            <a:endParaRPr lang="it-IT" sz="1200" b="1" i="0" dirty="0">
              <a:solidFill>
                <a:srgbClr val="5A4A12"/>
              </a:solidFill>
              <a:latin typeface="Calibri"/>
            </a:endParaRPr>
          </a:p>
          <a:p>
            <a:pPr algn="l"/>
            <a:r>
              <a:rPr lang="it-IT" sz="1200" b="1" i="0" dirty="0">
                <a:solidFill>
                  <a:srgbClr val="5A4A12"/>
                </a:solidFill>
                <a:latin typeface="Calibri"/>
              </a:rPr>
              <a:t>Come cambia per gli Enti:</a:t>
            </a:r>
          </a:p>
          <a:p>
            <a:pPr algn="l"/>
            <a:r>
              <a:rPr lang="it-IT" sz="1200" b="0" i="0" dirty="0">
                <a:solidFill>
                  <a:srgbClr val="5A4A12"/>
                </a:solidFill>
                <a:latin typeface="Calibri"/>
              </a:rPr>
              <a:t>1) un solo questionario per </a:t>
            </a:r>
            <a:r>
              <a:rPr lang="it-IT" sz="1200" dirty="0">
                <a:solidFill>
                  <a:srgbClr val="5A4A12"/>
                </a:solidFill>
                <a:latin typeface="Calibri"/>
              </a:rPr>
              <a:t>fase (</a:t>
            </a:r>
            <a:r>
              <a:rPr lang="it-IT" sz="1200" b="0" i="0" dirty="0">
                <a:solidFill>
                  <a:srgbClr val="5A4A12"/>
                </a:solidFill>
                <a:latin typeface="Calibri"/>
              </a:rPr>
              <a:t>precompilato dai dati della pratica)</a:t>
            </a:r>
          </a:p>
          <a:p>
            <a:pPr algn="l"/>
            <a:r>
              <a:rPr lang="it-IT" sz="1200" b="0" i="0" dirty="0">
                <a:solidFill>
                  <a:srgbClr val="5A4A12"/>
                </a:solidFill>
                <a:latin typeface="Calibri"/>
              </a:rPr>
              <a:t>2) enti meno «tartassati»: moduli qualitativi ad hoc solo quando serve un approfondimento</a:t>
            </a:r>
            <a:endParaRPr lang="it-IT" sz="800" b="0" i="0" dirty="0">
              <a:solidFill>
                <a:srgbClr val="5A4A12"/>
              </a:solidFill>
              <a:latin typeface="Calibri"/>
            </a:endParaRPr>
          </a:p>
          <a:p>
            <a:endParaRPr lang="it-IT" dirty="0"/>
          </a:p>
          <a:p>
            <a:pPr algn="l"/>
            <a:r>
              <a:rPr lang="it-IT" sz="1200" b="1" i="0" dirty="0">
                <a:solidFill>
                  <a:srgbClr val="0E6655"/>
                </a:solidFill>
                <a:latin typeface="Calibri"/>
              </a:rPr>
              <a:t>Cosa cambia per noi (</a:t>
            </a:r>
            <a:r>
              <a:rPr lang="it-IT" sz="1200" b="1" i="0" dirty="0" err="1">
                <a:solidFill>
                  <a:srgbClr val="0E6655"/>
                </a:solidFill>
                <a:latin typeface="Calibri"/>
              </a:rPr>
              <a:t>Oss</a:t>
            </a:r>
            <a:r>
              <a:rPr lang="it-IT" sz="1200" b="1" i="0" dirty="0">
                <a:solidFill>
                  <a:srgbClr val="0E6655"/>
                </a:solidFill>
                <a:latin typeface="Calibri"/>
              </a:rPr>
              <a:t>. + AE):</a:t>
            </a:r>
          </a:p>
          <a:p>
            <a:pPr algn="l"/>
            <a:r>
              <a:rPr lang="it-IT" sz="1200" b="0" i="0" dirty="0">
                <a:solidFill>
                  <a:srgbClr val="444444"/>
                </a:solidFill>
                <a:latin typeface="Calibri"/>
              </a:rPr>
              <a:t>1) no doppi inserimenti e riconciliazioni manuali</a:t>
            </a:r>
          </a:p>
          <a:p>
            <a:pPr algn="l"/>
            <a:r>
              <a:rPr lang="it-IT" sz="1200" b="0" i="0" dirty="0">
                <a:solidFill>
                  <a:srgbClr val="444444"/>
                </a:solidFill>
                <a:latin typeface="Calibri"/>
              </a:rPr>
              <a:t>2) lancio dei questionari automatico, meno tempo staff</a:t>
            </a:r>
          </a:p>
          <a:p>
            <a:pPr algn="l"/>
            <a:r>
              <a:rPr lang="it-IT" sz="1200" b="0" i="0" dirty="0">
                <a:solidFill>
                  <a:srgbClr val="444444"/>
                </a:solidFill>
                <a:latin typeface="Calibri"/>
              </a:rPr>
              <a:t>3) dati subito analizzabili — anche da IA (e.g. testi e PDF)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54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0" i="0" dirty="0">
                <a:solidFill>
                  <a:srgbClr val="333333"/>
                </a:solidFill>
                <a:latin typeface="Calibri"/>
              </a:rPr>
              <a:t>- </a:t>
            </a:r>
            <a:r>
              <a:rPr lang="it-IT" sz="1200" b="1" i="0" dirty="0">
                <a:solidFill>
                  <a:srgbClr val="333333"/>
                </a:solidFill>
                <a:latin typeface="Calibri"/>
              </a:rPr>
              <a:t>Analisi e proposta questionario unificato </a:t>
            </a:r>
            <a:r>
              <a:rPr lang="it-IT" sz="1200" b="0" i="0" dirty="0">
                <a:solidFill>
                  <a:srgbClr val="333333"/>
                </a:solidFill>
                <a:latin typeface="Calibri"/>
              </a:rPr>
              <a:t>-&gt; [da fare insieme ad AE] Io vedo questo come un esercizio di mappatura dove vorrei mettere da un lato quegli indicatori che consideriamo CORE (comuni a tutti, standardizzati, e che servono sempre), poi a moduli quelli che magari hanno senso per certi bandi / temi / finalità  </a:t>
            </a:r>
          </a:p>
          <a:p>
            <a:endParaRPr lang="it-IT" dirty="0"/>
          </a:p>
          <a:p>
            <a:r>
              <a:rPr lang="it-IT" dirty="0"/>
              <a:t>- </a:t>
            </a:r>
            <a:r>
              <a:rPr lang="it-IT" b="1" dirty="0"/>
              <a:t>Lista dei requisiti </a:t>
            </a:r>
            <a:r>
              <a:rPr lang="it-IT" dirty="0"/>
              <a:t>(e del workflow) –&gt; qui l’ideale sarebbe di rovesciare un po’ la logica: io ti descrivo le mie esigenze/processi e POI tu mi disegni il software che mi facilita il lavoro (NON VICEVERSA)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2975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2730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5559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8717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4C1AB-4CFD-00F0-9068-3F27289D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B667A9D-CE04-4AA3-5EBA-D4DAFF54C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C437CEE-664A-3B35-0B11-B4044CC5A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C0289D-41F5-EBB3-D9FE-D2A298B8A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6801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3637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 anchor="ctr"/>
          <a:lstStyle>
            <a:lvl1pPr algn="ctr">
              <a:defRPr sz="3000" b="1">
                <a:solidFill>
                  <a:srgbClr val="2C5F8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58200" y="4814316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6F15528-21DE-4FAA-801E-634DDDAF4B2B}" type="slidenum">
              <a:rPr lang="it-IT" sz="900">
                <a:solidFill>
                  <a:srgbClr val="A9A9A9"/>
                </a:solidFill>
                <a:latin typeface="Calibri"/>
              </a:rPr>
              <a:t>‹N›</a:t>
            </a:fld>
            <a:endParaRPr lang="it-IT" sz="900">
              <a:solidFill>
                <a:srgbClr val="A9A9A9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06184" y="4814316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82A7"/>
                </a:solidFill>
                <a:latin typeface="Calibri"/>
              </a:rPr>
              <a:t>Fondazione Cariparma - Osservatorio Dati Sociali | 8 settembre 2026</a:t>
            </a:r>
          </a:p>
        </p:txBody>
      </p:sp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" y="4677156"/>
            <a:ext cx="1094704" cy="356616"/>
          </a:xfrm>
          <a:prstGeom prst="rect">
            <a:avLst/>
          </a:prstGeom>
        </p:spPr>
      </p:pic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rgbClr val="2C5F8D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rgbClr val="333333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333333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333333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333333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333333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333333"/>
          </a:solidFill>
        </a:defRPr>
      </a:defPPr>
      <a:lvl1pPr marL="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20E6A2-6F43-A39D-BAFC-415C1F2CF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83139"/>
            <a:ext cx="7772400" cy="236024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t-IT" sz="3000" b="1" dirty="0">
                <a:solidFill>
                  <a:srgbClr val="333333"/>
                </a:solidFill>
              </a:rPr>
              <a:t>Proposta di integrare 2 sistemi di monitoraggio e valutazione in un </a:t>
            </a:r>
            <a:r>
              <a:rPr lang="it-IT" sz="3000" b="1" dirty="0">
                <a:solidFill>
                  <a:schemeClr val="tx2"/>
                </a:solidFill>
              </a:rPr>
              <a:t>UNICO SISTEMA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9527E94-8F46-4241-5C81-CBA99E1D1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1015" y="3096846"/>
            <a:ext cx="6400800" cy="1752600"/>
          </a:xfrm>
        </p:spPr>
        <p:txBody>
          <a:bodyPr/>
          <a:lstStyle/>
          <a:p>
            <a:pPr algn="ctr">
              <a:buNone/>
            </a:pPr>
            <a:r>
              <a:rPr lang="it-IT" sz="1600" dirty="0">
                <a:solidFill>
                  <a:srgbClr val="666666"/>
                </a:solidFill>
              </a:rPr>
              <a:t>Meeting di allineamento — Osservatorio e Area Erogativa</a:t>
            </a:r>
          </a:p>
          <a:p>
            <a:pPr algn="ctr">
              <a:buNone/>
            </a:pPr>
            <a:r>
              <a:rPr lang="it-IT" sz="1400" dirty="0">
                <a:solidFill>
                  <a:srgbClr val="666666"/>
                </a:solidFill>
              </a:rPr>
              <a:t>8 settembre 2026</a:t>
            </a:r>
          </a:p>
        </p:txBody>
      </p:sp>
    </p:spTree>
    <p:extLst>
      <p:ext uri="{BB962C8B-B14F-4D97-AF65-F5344CB8AC3E}">
        <p14:creationId xmlns:p14="http://schemas.microsoft.com/office/powerpoint/2010/main" val="2774715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505EE0-0181-6E26-2528-F8B98EE6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buNone/>
            </a:pPr>
            <a:r>
              <a:rPr lang="it-IT" sz="2400" b="1" dirty="0">
                <a:solidFill>
                  <a:schemeClr val="tx2"/>
                </a:solidFill>
              </a:rPr>
              <a:t>Perché e perché adesso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815213-29E5-DE03-EF65-93A407758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0644"/>
            <a:ext cx="8229600" cy="3944344"/>
          </a:xfrm>
        </p:spPr>
        <p:txBody>
          <a:bodyPr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it-IT" b="1" dirty="0">
                <a:solidFill>
                  <a:schemeClr val="tx2"/>
                </a:solidFill>
              </a:rPr>
              <a:t>Finestra di opportunità</a:t>
            </a:r>
            <a:endParaRPr lang="it-IT" dirty="0">
              <a:solidFill>
                <a:schemeClr val="tx2"/>
              </a:solidFill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it-IT" dirty="0">
                <a:solidFill>
                  <a:srgbClr val="333333"/>
                </a:solidFill>
              </a:rPr>
              <a:t>La migrazione del gestionale SIME Cobol a SIME EROWEB, in fase di avvio, obbliga comunque a rimettere mano all’architettura informativa</a:t>
            </a:r>
          </a:p>
          <a:p>
            <a:pPr marL="0" indent="0" algn="l">
              <a:spcBef>
                <a:spcPts val="0"/>
              </a:spcBef>
              <a:buNone/>
            </a:pPr>
            <a:endParaRPr lang="it-IT" b="1" dirty="0">
              <a:solidFill>
                <a:srgbClr val="0E6655"/>
              </a:solidFill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it-IT" b="1" dirty="0">
                <a:solidFill>
                  <a:schemeClr val="tx2"/>
                </a:solidFill>
              </a:rPr>
              <a:t>BENEFICI ATTESI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Minore</a:t>
            </a:r>
            <a:r>
              <a:rPr lang="it-IT" dirty="0"/>
              <a:t> </a:t>
            </a:r>
            <a:r>
              <a:rPr lang="it-IT" b="1" dirty="0"/>
              <a:t>onere di reportistica sugli Enti </a:t>
            </a:r>
            <a:r>
              <a:rPr lang="it-IT" dirty="0"/>
              <a:t>(MOVOT e Impact Call in parte sovrapponibili) …x liberare energie per interlocuzioni ad hoc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Meno lavoro manuale</a:t>
            </a:r>
            <a:r>
              <a:rPr lang="it-IT" dirty="0"/>
              <a:t>  per </a:t>
            </a:r>
            <a:r>
              <a:rPr lang="it-IT" dirty="0">
                <a:solidFill>
                  <a:srgbClr val="333333"/>
                </a:solidFill>
              </a:rPr>
              <a:t>A.E. e </a:t>
            </a:r>
            <a:r>
              <a:rPr lang="it-IT" dirty="0" err="1">
                <a:solidFill>
                  <a:srgbClr val="333333"/>
                </a:solidFill>
              </a:rPr>
              <a:t>Oss</a:t>
            </a:r>
            <a:r>
              <a:rPr lang="it-IT" dirty="0">
                <a:solidFill>
                  <a:srgbClr val="333333"/>
                </a:solidFill>
              </a:rPr>
              <a:t>. –</a:t>
            </a:r>
            <a:r>
              <a:rPr lang="it-IT" dirty="0"/>
              <a:t> estrazioni, solleciti per email, controlli e riconciliazioni tra sistemi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[Meno piattaforme, meno costi]</a:t>
            </a:r>
            <a:r>
              <a:rPr lang="it-IT" dirty="0"/>
              <a:t> </a:t>
            </a:r>
            <a:r>
              <a:rPr lang="it-IT" dirty="0">
                <a:solidFill>
                  <a:srgbClr val="333333"/>
                </a:solidFill>
              </a:rPr>
              <a:t>– </a:t>
            </a:r>
            <a:r>
              <a:rPr lang="it-IT" dirty="0"/>
              <a:t>unificare riduce canoni, contratti e manutenzione 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endParaRPr lang="it-IT" dirty="0"/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endParaRPr lang="it-IT" dirty="0"/>
          </a:p>
          <a:p>
            <a:pPr marL="0" indent="0" algn="l">
              <a:spcBef>
                <a:spcPts val="0"/>
              </a:spcBef>
              <a:buNone/>
            </a:pPr>
            <a:r>
              <a:rPr lang="it-IT" b="1" dirty="0">
                <a:solidFill>
                  <a:schemeClr val="tx2"/>
                </a:solidFill>
              </a:rPr>
              <a:t>CRITERI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>
                <a:solidFill>
                  <a:srgbClr val="333333"/>
                </a:solidFill>
              </a:rPr>
              <a:t>Accesso DIRETTO a TUTTI i nostri dati </a:t>
            </a:r>
            <a:r>
              <a:rPr lang="it-IT" dirty="0">
                <a:solidFill>
                  <a:srgbClr val="333333"/>
                </a:solidFill>
              </a:rPr>
              <a:t> [</a:t>
            </a:r>
            <a:r>
              <a:rPr lang="it-IT" dirty="0">
                <a:solidFill>
                  <a:srgbClr val="C00000"/>
                </a:solidFill>
              </a:rPr>
              <a:t>SIME?</a:t>
            </a:r>
            <a:r>
              <a:rPr lang="it-IT" dirty="0">
                <a:solidFill>
                  <a:srgbClr val="333333"/>
                </a:solidFill>
              </a:rPr>
              <a:t>] e nei formati </a:t>
            </a:r>
            <a:r>
              <a:rPr lang="it-IT" dirty="0"/>
              <a:t>ottimizzati per </a:t>
            </a:r>
            <a:r>
              <a:rPr lang="it-IT" dirty="0">
                <a:solidFill>
                  <a:srgbClr val="333333"/>
                </a:solidFill>
              </a:rPr>
              <a:t>utenti 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Continuità degli indicatori</a:t>
            </a:r>
            <a:r>
              <a:rPr lang="it-IT" dirty="0"/>
              <a:t> fondamentali (per bilancio e valutazione impatto)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dirty="0"/>
              <a:t>Il </a:t>
            </a:r>
            <a:r>
              <a:rPr lang="it-IT" b="1" dirty="0"/>
              <a:t>software si adegua ai nostri bisogni e processi </a:t>
            </a:r>
            <a:r>
              <a:rPr lang="it-IT" dirty="0"/>
              <a:t>(non viceversa!)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Una sola «</a:t>
            </a:r>
            <a:r>
              <a:rPr lang="it-IT" b="1" i="1" dirty="0"/>
              <a:t>fonte di verità</a:t>
            </a:r>
            <a:r>
              <a:rPr lang="it-IT" b="1" dirty="0"/>
              <a:t>»  </a:t>
            </a:r>
            <a:r>
              <a:rPr lang="it-IT" dirty="0"/>
              <a:t>– risolvere importazioni da/a SIME-Eroweb, tempi di allineamento, ecc.</a:t>
            </a:r>
          </a:p>
          <a:p>
            <a:pPr marL="0" indent="0">
              <a:spcBef>
                <a:spcPts val="0"/>
              </a:spcBef>
              <a:buNone/>
            </a:pPr>
            <a:endParaRPr lang="it-IT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71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or 10"/>
          <p:cNvCxnSpPr>
            <a:cxnSpLocks/>
            <a:stCxn id="36" idx="0"/>
          </p:cNvCxnSpPr>
          <p:nvPr/>
        </p:nvCxnSpPr>
        <p:spPr>
          <a:xfrm flipV="1">
            <a:off x="1035843" y="1378744"/>
            <a:ext cx="1067992" cy="1835943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85737" y="86199"/>
            <a:ext cx="87725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i="0" dirty="0" err="1">
                <a:solidFill>
                  <a:srgbClr val="2C5F8D"/>
                </a:solidFill>
                <a:latin typeface="Calibri"/>
              </a:rPr>
              <a:t>Integrare</a:t>
            </a:r>
            <a:r>
              <a:rPr sz="2000" b="1" i="0" dirty="0">
                <a:solidFill>
                  <a:srgbClr val="2C5F8D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2C5F8D"/>
                </a:solidFill>
                <a:latin typeface="Calibri"/>
              </a:rPr>
              <a:t>i</a:t>
            </a:r>
            <a:r>
              <a:rPr sz="2000" b="1" i="0" dirty="0">
                <a:solidFill>
                  <a:srgbClr val="2C5F8D"/>
                </a:solidFill>
                <a:latin typeface="Calibri"/>
              </a:rPr>
              <a:t> 2 </a:t>
            </a:r>
            <a:r>
              <a:rPr sz="2000" b="1" i="0" dirty="0" err="1">
                <a:solidFill>
                  <a:srgbClr val="2C5F8D"/>
                </a:solidFill>
                <a:latin typeface="Calibri"/>
              </a:rPr>
              <a:t>sistemi</a:t>
            </a:r>
            <a:r>
              <a:rPr sz="2000" b="1" i="0" dirty="0">
                <a:solidFill>
                  <a:srgbClr val="2C5F8D"/>
                </a:solidFill>
                <a:latin typeface="Calibri"/>
              </a:rPr>
              <a:t> di </a:t>
            </a:r>
            <a:r>
              <a:rPr sz="2000" b="1" i="0" dirty="0" err="1">
                <a:solidFill>
                  <a:srgbClr val="2C5F8D"/>
                </a:solidFill>
                <a:latin typeface="Calibri"/>
              </a:rPr>
              <a:t>monitoraggio</a:t>
            </a:r>
            <a:r>
              <a:rPr sz="2000" b="1" i="0" dirty="0">
                <a:solidFill>
                  <a:srgbClr val="2C5F8D"/>
                </a:solidFill>
                <a:latin typeface="Calibri"/>
              </a:rPr>
              <a:t> e </a:t>
            </a:r>
            <a:r>
              <a:rPr sz="2000" b="1" i="0" dirty="0" err="1">
                <a:solidFill>
                  <a:srgbClr val="2C5F8D"/>
                </a:solidFill>
                <a:latin typeface="Calibri"/>
              </a:rPr>
              <a:t>valutazione</a:t>
            </a:r>
            <a:r>
              <a:rPr sz="2000" b="1" i="0" dirty="0">
                <a:solidFill>
                  <a:srgbClr val="2C5F8D"/>
                </a:solidFill>
                <a:latin typeface="Calibri"/>
              </a:rPr>
              <a:t> in un</a:t>
            </a:r>
            <a:r>
              <a:rPr lang="it-IT" sz="2000" b="1" i="0" dirty="0">
                <a:solidFill>
                  <a:srgbClr val="2C5F8D"/>
                </a:solidFill>
                <a:latin typeface="Calibri"/>
              </a:rPr>
              <a:t> </a:t>
            </a:r>
            <a:r>
              <a:rPr sz="2000" b="1" i="0" dirty="0">
                <a:solidFill>
                  <a:srgbClr val="0E6655"/>
                </a:solidFill>
                <a:latin typeface="Calibri"/>
              </a:rPr>
              <a:t>UNICO SISTEMA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5750" y="642937"/>
            <a:ext cx="3571875" cy="4143375"/>
          </a:xfrm>
          <a:prstGeom prst="roundRect">
            <a:avLst>
              <a:gd name="adj" fmla="val 4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8625" y="714375"/>
            <a:ext cx="25003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666666"/>
                </a:solidFill>
                <a:latin typeface="Calibri"/>
              </a:rPr>
              <a:t>OGGI — 2 </a:t>
            </a:r>
            <a:r>
              <a:rPr sz="1200" b="1" i="0" dirty="0" err="1">
                <a:solidFill>
                  <a:srgbClr val="666666"/>
                </a:solidFill>
                <a:latin typeface="Calibri"/>
              </a:rPr>
              <a:t>sistemi</a:t>
            </a:r>
            <a:r>
              <a:rPr sz="1200" b="1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666666"/>
                </a:solidFill>
                <a:latin typeface="Calibri"/>
              </a:rPr>
              <a:t>separati</a:t>
            </a:r>
            <a:endParaRPr sz="1200" b="1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0062" y="1071562"/>
            <a:ext cx="785812" cy="300037"/>
          </a:xfrm>
          <a:prstGeom prst="roundRect">
            <a:avLst>
              <a:gd name="adj" fmla="val 12000"/>
            </a:avLst>
          </a:prstGeom>
          <a:solidFill>
            <a:srgbClr val="0E6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14500" y="1071562"/>
            <a:ext cx="857250" cy="300037"/>
          </a:xfrm>
          <a:prstGeom prst="roundRect">
            <a:avLst>
              <a:gd name="adj" fmla="val 12000"/>
            </a:avLst>
          </a:prstGeom>
          <a:solidFill>
            <a:srgbClr val="4EB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EROWEB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14450" y="1221581"/>
            <a:ext cx="371475" cy="0"/>
          </a:xfrm>
          <a:prstGeom prst="line">
            <a:avLst/>
          </a:prstGeom>
          <a:ln w="15240">
            <a:solidFill>
              <a:srgbClr val="888888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0062" y="1785937"/>
            <a:ext cx="928687" cy="271462"/>
          </a:xfrm>
          <a:prstGeom prst="roundRect">
            <a:avLst>
              <a:gd name="adj" fmla="val 12000"/>
            </a:avLst>
          </a:prstGeom>
          <a:solidFill>
            <a:srgbClr val="7F9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MO.V.O.T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 flipV="1">
            <a:off x="942975" y="1364455"/>
            <a:ext cx="1150143" cy="407194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78818" y="1615827"/>
            <a:ext cx="145849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000" i="1" dirty="0">
                <a:solidFill>
                  <a:srgbClr val="999999"/>
                </a:solidFill>
                <a:latin typeface="Calibri"/>
              </a:rPr>
              <a:t>A</a:t>
            </a:r>
            <a:r>
              <a:rPr sz="1000" b="0" i="1" dirty="0" err="1">
                <a:solidFill>
                  <a:srgbClr val="999999"/>
                </a:solidFill>
                <a:latin typeface="Calibri"/>
              </a:rPr>
              <a:t>gganci</a:t>
            </a:r>
            <a:r>
              <a:rPr sz="10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Calibri"/>
              </a:rPr>
              <a:t>deboli</a:t>
            </a:r>
            <a:r>
              <a:rPr lang="it-IT" sz="10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lang="it-IT" sz="1000" i="1" dirty="0">
                <a:solidFill>
                  <a:srgbClr val="999999"/>
                </a:solidFill>
                <a:latin typeface="Calibri"/>
              </a:rPr>
              <a:t>e fatti  a mano</a:t>
            </a:r>
          </a:p>
          <a:p>
            <a:pPr algn="l"/>
            <a:r>
              <a:rPr lang="it-IT" sz="1000" b="0" i="1" dirty="0">
                <a:solidFill>
                  <a:srgbClr val="999999"/>
                </a:solidFill>
                <a:latin typeface="Calibri"/>
              </a:rPr>
              <a:t>C</a:t>
            </a:r>
            <a:r>
              <a:rPr sz="1000" b="0" i="1" dirty="0" err="1">
                <a:solidFill>
                  <a:srgbClr val="999999"/>
                </a:solidFill>
                <a:latin typeface="Calibri"/>
              </a:rPr>
              <a:t>hiavi</a:t>
            </a:r>
            <a:r>
              <a:rPr sz="10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lang="it-IT" sz="1000" b="0" i="1" dirty="0">
                <a:solidFill>
                  <a:srgbClr val="999999"/>
                </a:solidFill>
                <a:latin typeface="Calibri"/>
              </a:rPr>
              <a:t>ID </a:t>
            </a:r>
            <a:r>
              <a:rPr sz="1000" b="0" i="1" dirty="0">
                <a:solidFill>
                  <a:srgbClr val="999999"/>
                </a:solidFill>
                <a:latin typeface="Calibri"/>
              </a:rPr>
              <a:t>non </a:t>
            </a:r>
            <a:r>
              <a:rPr sz="1000" b="0" i="1" dirty="0" err="1">
                <a:solidFill>
                  <a:srgbClr val="999999"/>
                </a:solidFill>
                <a:latin typeface="Calibri"/>
              </a:rPr>
              <a:t>uniformi</a:t>
            </a:r>
            <a:endParaRPr sz="1000" b="0" i="1" dirty="0">
              <a:solidFill>
                <a:srgbClr val="999999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5781" y="2228850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ante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0" y="2143125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5" name="Connector 14"/>
          <p:cNvCxnSpPr/>
          <p:nvPr/>
        </p:nvCxnSpPr>
        <p:spPr>
          <a:xfrm>
            <a:off x="1478756" y="221456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78756" y="227171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78756" y="2328862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57325" y="2300287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71750" y="2143125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20" name="Connector 19"/>
          <p:cNvCxnSpPr/>
          <p:nvPr/>
        </p:nvCxnSpPr>
        <p:spPr>
          <a:xfrm>
            <a:off x="2621756" y="221456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21756" y="227171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21756" y="2328862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00325" y="2300287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781" y="2600325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post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8812" y="2514600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26" name="Connector 25"/>
          <p:cNvCxnSpPr/>
          <p:nvPr/>
        </p:nvCxnSpPr>
        <p:spPr>
          <a:xfrm>
            <a:off x="1978818" y="258603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78818" y="264318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8818" y="2700337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57387" y="2671762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71812" y="2514600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31" name="Connector 30"/>
          <p:cNvCxnSpPr/>
          <p:nvPr/>
        </p:nvCxnSpPr>
        <p:spPr>
          <a:xfrm>
            <a:off x="3121818" y="258603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1818" y="264318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21818" y="2700337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00387" y="2671762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43000" y="2964656"/>
            <a:ext cx="2500312" cy="0"/>
          </a:xfrm>
          <a:prstGeom prst="line">
            <a:avLst/>
          </a:prstGeom>
          <a:ln w="15240"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00062" y="3214687"/>
            <a:ext cx="1071562" cy="271462"/>
          </a:xfrm>
          <a:prstGeom prst="roundRect">
            <a:avLst>
              <a:gd name="adj" fmla="val 12000"/>
            </a:avLst>
          </a:prstGeom>
          <a:solidFill>
            <a:srgbClr val="E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OIS Open 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781" y="3657600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ante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28750" y="3571875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39" name="Connector 38"/>
          <p:cNvCxnSpPr/>
          <p:nvPr/>
        </p:nvCxnSpPr>
        <p:spPr>
          <a:xfrm>
            <a:off x="1478756" y="364331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78756" y="370046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78756" y="3757612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457325" y="3729037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71750" y="3571875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44" name="Connector 43"/>
          <p:cNvCxnSpPr/>
          <p:nvPr/>
        </p:nvCxnSpPr>
        <p:spPr>
          <a:xfrm>
            <a:off x="2621756" y="364331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21756" y="370046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621756" y="3757612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00325" y="3729037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5781" y="4029075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post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28812" y="3943350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50" name="Connector 49"/>
          <p:cNvCxnSpPr/>
          <p:nvPr/>
        </p:nvCxnSpPr>
        <p:spPr>
          <a:xfrm>
            <a:off x="1978818" y="401478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978818" y="407193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978818" y="4129087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957387" y="4100512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71812" y="3943350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55" name="Connector 54"/>
          <p:cNvCxnSpPr/>
          <p:nvPr/>
        </p:nvCxnSpPr>
        <p:spPr>
          <a:xfrm>
            <a:off x="3121818" y="401478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121818" y="407193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121818" y="4129087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100387" y="4100512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143000" y="4393406"/>
            <a:ext cx="2500312" cy="0"/>
          </a:xfrm>
          <a:prstGeom prst="line">
            <a:avLst/>
          </a:prstGeom>
          <a:ln w="15240"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85750" y="4529137"/>
            <a:ext cx="357187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 err="1">
                <a:solidFill>
                  <a:srgbClr val="C00000"/>
                </a:solidFill>
                <a:latin typeface="Calibri"/>
              </a:rPr>
              <a:t>Stessi</a:t>
            </a:r>
            <a:r>
              <a:rPr sz="900" b="0" i="1" dirty="0">
                <a:solidFill>
                  <a:srgbClr val="C00000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C00000"/>
                </a:solidFill>
                <a:latin typeface="Calibri"/>
              </a:rPr>
              <a:t>enti</a:t>
            </a:r>
            <a:r>
              <a:rPr sz="900" b="0" i="1" dirty="0">
                <a:solidFill>
                  <a:srgbClr val="C00000"/>
                </a:solidFill>
                <a:latin typeface="Calibri"/>
              </a:rPr>
              <a:t>, </a:t>
            </a:r>
            <a:r>
              <a:rPr lang="it-IT" sz="900" b="0" i="1" dirty="0">
                <a:solidFill>
                  <a:srgbClr val="C00000"/>
                </a:solidFill>
                <a:latin typeface="Calibri"/>
              </a:rPr>
              <a:t>molte </a:t>
            </a:r>
            <a:r>
              <a:rPr sz="900" b="0" i="1" dirty="0" err="1">
                <a:solidFill>
                  <a:srgbClr val="C00000"/>
                </a:solidFill>
                <a:latin typeface="Calibri"/>
              </a:rPr>
              <a:t>domande</a:t>
            </a:r>
            <a:r>
              <a:rPr sz="900" b="0" i="1" dirty="0">
                <a:solidFill>
                  <a:srgbClr val="C00000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C00000"/>
                </a:solidFill>
                <a:latin typeface="Calibri"/>
              </a:rPr>
              <a:t>sovrapposte</a:t>
            </a:r>
            <a:r>
              <a:rPr sz="900" b="0" i="1" dirty="0">
                <a:solidFill>
                  <a:srgbClr val="C00000"/>
                </a:solidFill>
                <a:latin typeface="Calibri"/>
              </a:rPr>
              <a:t>, doppio </a:t>
            </a:r>
            <a:r>
              <a:rPr sz="900" b="0" i="1" dirty="0" err="1">
                <a:solidFill>
                  <a:srgbClr val="C00000"/>
                </a:solidFill>
                <a:latin typeface="Calibri"/>
              </a:rPr>
              <a:t>lavoro</a:t>
            </a:r>
            <a:endParaRPr sz="900" b="0" i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61" name="Right Arrow 60"/>
          <p:cNvSpPr/>
          <p:nvPr/>
        </p:nvSpPr>
        <p:spPr>
          <a:xfrm>
            <a:off x="3985627" y="2393156"/>
            <a:ext cx="535781" cy="39195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2" name="TextBox 61"/>
          <p:cNvSpPr txBox="1"/>
          <p:nvPr/>
        </p:nvSpPr>
        <p:spPr>
          <a:xfrm>
            <a:off x="3950493" y="2201227"/>
            <a:ext cx="585787" cy="1571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0E6655"/>
                </a:solidFill>
                <a:latin typeface="Calibri"/>
              </a:rPr>
              <a:t>2027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664283" y="600074"/>
            <a:ext cx="4179093" cy="4143375"/>
          </a:xfrm>
          <a:prstGeom prst="roundRect">
            <a:avLst>
              <a:gd name="adj" fmla="val 4000"/>
            </a:avLst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1000" i="1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822031" y="714375"/>
            <a:ext cx="2857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655"/>
                </a:solidFill>
                <a:latin typeface="Calibri"/>
              </a:rPr>
              <a:t>DAL 2028 — un solo sistema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893468" y="1071562"/>
            <a:ext cx="857250" cy="285750"/>
          </a:xfrm>
          <a:prstGeom prst="roundRect">
            <a:avLst>
              <a:gd name="adj" fmla="val 12000"/>
            </a:avLst>
          </a:prstGeom>
          <a:solidFill>
            <a:srgbClr val="4EB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EROWEB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322093" y="1371600"/>
            <a:ext cx="0" cy="357187"/>
          </a:xfrm>
          <a:prstGeom prst="line">
            <a:avLst/>
          </a:prstGeom>
          <a:ln w="19050">
            <a:solidFill>
              <a:srgbClr val="0E6655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828472" y="993456"/>
            <a:ext cx="142473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000" b="0" i="1" dirty="0">
                <a:solidFill>
                  <a:schemeClr val="accent6"/>
                </a:solidFill>
                <a:latin typeface="Calibri"/>
              </a:rPr>
              <a:t>[I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accent6"/>
                </a:solidFill>
                <a:latin typeface="Calibri"/>
              </a:rPr>
              <a:t>questionari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 «</a:t>
            </a:r>
            <a:r>
              <a:rPr sz="1000" b="0" i="1" dirty="0" err="1">
                <a:solidFill>
                  <a:schemeClr val="accent6"/>
                </a:solidFill>
                <a:latin typeface="Calibri"/>
              </a:rPr>
              <a:t>scattano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» </a:t>
            </a:r>
            <a:r>
              <a:rPr lang="it-IT" sz="1000" b="0" i="1" dirty="0">
                <a:solidFill>
                  <a:schemeClr val="accent6"/>
                </a:solidFill>
                <a:latin typeface="Calibri"/>
              </a:rPr>
              <a:t>in automatico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accent6"/>
                </a:solidFill>
                <a:latin typeface="Calibri"/>
              </a:rPr>
              <a:t>dalle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accent6"/>
                </a:solidFill>
                <a:latin typeface="Calibri"/>
              </a:rPr>
              <a:t>pratiche</a:t>
            </a:r>
            <a:r>
              <a:rPr lang="it-IT" sz="1000" b="0" i="1" dirty="0">
                <a:solidFill>
                  <a:schemeClr val="accent6"/>
                </a:solidFill>
                <a:latin typeface="Calibri"/>
              </a:rPr>
              <a:t>]</a:t>
            </a:r>
            <a:endParaRPr sz="1000" b="0" i="1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893468" y="1785937"/>
            <a:ext cx="1643062" cy="471487"/>
          </a:xfrm>
          <a:prstGeom prst="roundRect">
            <a:avLst>
              <a:gd name="adj" fmla="val 12000"/>
            </a:avLst>
          </a:prstGeom>
          <a:solidFill>
            <a:srgbClr val="0E6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UNICO SISTEMA</a:t>
            </a:r>
          </a:p>
          <a:p>
            <a:pPr algn="ctr"/>
            <a:r>
              <a:rPr sz="900" b="0" i="0" dirty="0" err="1">
                <a:solidFill>
                  <a:srgbClr val="D9EFE9"/>
                </a:solidFill>
                <a:latin typeface="Calibri"/>
              </a:rPr>
              <a:t>monitoraggio</a:t>
            </a:r>
            <a:r>
              <a:rPr sz="900" b="0" i="0" dirty="0">
                <a:solidFill>
                  <a:srgbClr val="D9EFE9"/>
                </a:solidFill>
                <a:latin typeface="Calibri"/>
              </a:rPr>
              <a:t> + </a:t>
            </a:r>
            <a:r>
              <a:rPr sz="900" b="0" i="0" dirty="0" err="1">
                <a:solidFill>
                  <a:srgbClr val="D9EFE9"/>
                </a:solidFill>
                <a:latin typeface="Calibri"/>
              </a:rPr>
              <a:t>impatto</a:t>
            </a:r>
            <a:endParaRPr sz="900" b="0" i="0" dirty="0">
              <a:solidFill>
                <a:srgbClr val="D9EFE9"/>
              </a:solidFill>
              <a:latin typeface="Calibri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0270" y="4341154"/>
            <a:ext cx="80235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1000" i="1">
                <a:solidFill>
                  <a:schemeClr val="accent6"/>
                </a:solidFill>
                <a:latin typeface="Calibri"/>
              </a:defRPr>
            </a:lvl1pPr>
          </a:lstStyle>
          <a:p>
            <a:r>
              <a:rPr lang="it-IT" dirty="0"/>
              <a:t>Accesso ai nostri dati con maschera estrazione</a:t>
            </a:r>
          </a:p>
        </p:txBody>
      </p:sp>
      <p:cxnSp>
        <p:nvCxnSpPr>
          <p:cNvPr id="97" name="Connector 96"/>
          <p:cNvCxnSpPr>
            <a:cxnSpLocks/>
          </p:cNvCxnSpPr>
          <p:nvPr/>
        </p:nvCxnSpPr>
        <p:spPr>
          <a:xfrm flipV="1">
            <a:off x="6753829" y="3844484"/>
            <a:ext cx="1061140" cy="147221"/>
          </a:xfrm>
          <a:prstGeom prst="line">
            <a:avLst/>
          </a:prstGeom>
          <a:ln w="127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8" name="Connector 97"/>
          <p:cNvCxnSpPr>
            <a:cxnSpLocks/>
          </p:cNvCxnSpPr>
          <p:nvPr/>
        </p:nvCxnSpPr>
        <p:spPr>
          <a:xfrm>
            <a:off x="6753829" y="4055998"/>
            <a:ext cx="1061140" cy="131386"/>
          </a:xfrm>
          <a:prstGeom prst="line">
            <a:avLst/>
          </a:prstGeom>
          <a:ln w="127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9" name="Connector 98"/>
          <p:cNvCxnSpPr>
            <a:cxnSpLocks/>
          </p:cNvCxnSpPr>
          <p:nvPr/>
        </p:nvCxnSpPr>
        <p:spPr>
          <a:xfrm>
            <a:off x="6753829" y="4120292"/>
            <a:ext cx="1061140" cy="409992"/>
          </a:xfrm>
          <a:prstGeom prst="line">
            <a:avLst/>
          </a:prstGeom>
          <a:ln w="127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7843837" y="3713098"/>
            <a:ext cx="885384" cy="25003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7F9D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 dirty="0">
                <a:solidFill>
                  <a:srgbClr val="444444"/>
                </a:solidFill>
                <a:latin typeface="Calibri"/>
              </a:rPr>
              <a:t>Excel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843837" y="4055998"/>
            <a:ext cx="885384" cy="25003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0E6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 dirty="0">
                <a:solidFill>
                  <a:srgbClr val="444444"/>
                </a:solidFill>
                <a:latin typeface="Calibri"/>
              </a:rPr>
              <a:t>R</a:t>
            </a:r>
            <a:r>
              <a:rPr lang="it-IT" sz="900" b="1" i="0" dirty="0">
                <a:solidFill>
                  <a:srgbClr val="444444"/>
                </a:solidFill>
                <a:latin typeface="Calibri"/>
              </a:rPr>
              <a:t>, csv, </a:t>
            </a:r>
            <a:r>
              <a:rPr lang="it-IT" sz="900" b="1" i="0" dirty="0" err="1">
                <a:solidFill>
                  <a:srgbClr val="444444"/>
                </a:solidFill>
                <a:latin typeface="Calibri"/>
              </a:rPr>
              <a:t>txt</a:t>
            </a:r>
            <a:r>
              <a:rPr lang="it-IT" sz="900" b="1" i="0" dirty="0">
                <a:solidFill>
                  <a:srgbClr val="444444"/>
                </a:solidFill>
                <a:latin typeface="Calibri"/>
              </a:rPr>
              <a:t>, </a:t>
            </a:r>
            <a:r>
              <a:rPr lang="it-IT" sz="900" b="1" i="0" dirty="0" err="1">
                <a:solidFill>
                  <a:srgbClr val="444444"/>
                </a:solidFill>
                <a:latin typeface="Calibri"/>
              </a:rPr>
              <a:t>Json</a:t>
            </a:r>
            <a:r>
              <a:rPr lang="it-IT" sz="900" b="1" i="0" dirty="0">
                <a:solidFill>
                  <a:srgbClr val="444444"/>
                </a:solidFill>
                <a:latin typeface="Calibri"/>
              </a:rPr>
              <a:t>…</a:t>
            </a:r>
            <a:endParaRPr sz="900" b="1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7843837" y="4398898"/>
            <a:ext cx="885384" cy="25003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E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it-IT" sz="900" b="1" dirty="0">
                <a:solidFill>
                  <a:schemeClr val="accent6"/>
                </a:solidFill>
                <a:latin typeface="Calibri"/>
              </a:rPr>
              <a:t>Metadati</a:t>
            </a:r>
          </a:p>
        </p:txBody>
      </p:sp>
      <p:sp>
        <p:nvSpPr>
          <p:cNvPr id="127" name="TextBox 72">
            <a:extLst>
              <a:ext uri="{FF2B5EF4-FFF2-40B4-BE49-F238E27FC236}">
                <a16:creationId xmlns:a16="http://schemas.microsoft.com/office/drawing/2014/main" id="{A9CA7FFE-0419-C4FC-2DF5-667F7A9D559C}"/>
              </a:ext>
            </a:extLst>
          </p:cNvPr>
          <p:cNvSpPr txBox="1"/>
          <p:nvPr/>
        </p:nvSpPr>
        <p:spPr>
          <a:xfrm>
            <a:off x="4850607" y="2407443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ante</a:t>
            </a:r>
          </a:p>
        </p:txBody>
      </p:sp>
      <p:sp>
        <p:nvSpPr>
          <p:cNvPr id="128" name="Rounded Rectangle 73">
            <a:extLst>
              <a:ext uri="{FF2B5EF4-FFF2-40B4-BE49-F238E27FC236}">
                <a16:creationId xmlns:a16="http://schemas.microsoft.com/office/drawing/2014/main" id="{85BF4E25-03AD-C4AF-A4A7-5C59591BEC68}"/>
              </a:ext>
            </a:extLst>
          </p:cNvPr>
          <p:cNvSpPr/>
          <p:nvPr/>
        </p:nvSpPr>
        <p:spPr>
          <a:xfrm>
            <a:off x="5493544" y="2321718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29" name="Connector 74">
            <a:extLst>
              <a:ext uri="{FF2B5EF4-FFF2-40B4-BE49-F238E27FC236}">
                <a16:creationId xmlns:a16="http://schemas.microsoft.com/office/drawing/2014/main" id="{6CFD54CA-634D-9BF1-6F49-1AD888B8A341}"/>
              </a:ext>
            </a:extLst>
          </p:cNvPr>
          <p:cNvCxnSpPr/>
          <p:nvPr/>
        </p:nvCxnSpPr>
        <p:spPr>
          <a:xfrm>
            <a:off x="5543550" y="2393156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75">
            <a:extLst>
              <a:ext uri="{FF2B5EF4-FFF2-40B4-BE49-F238E27FC236}">
                <a16:creationId xmlns:a16="http://schemas.microsoft.com/office/drawing/2014/main" id="{C8ACBB26-6B72-6F46-7006-62E2EF8359E8}"/>
              </a:ext>
            </a:extLst>
          </p:cNvPr>
          <p:cNvCxnSpPr/>
          <p:nvPr/>
        </p:nvCxnSpPr>
        <p:spPr>
          <a:xfrm>
            <a:off x="5543550" y="2450306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76">
            <a:extLst>
              <a:ext uri="{FF2B5EF4-FFF2-40B4-BE49-F238E27FC236}">
                <a16:creationId xmlns:a16="http://schemas.microsoft.com/office/drawing/2014/main" id="{88F83576-24D4-243D-8E95-1EB8631361BC}"/>
              </a:ext>
            </a:extLst>
          </p:cNvPr>
          <p:cNvCxnSpPr/>
          <p:nvPr/>
        </p:nvCxnSpPr>
        <p:spPr>
          <a:xfrm>
            <a:off x="5543550" y="2507456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77">
            <a:extLst>
              <a:ext uri="{FF2B5EF4-FFF2-40B4-BE49-F238E27FC236}">
                <a16:creationId xmlns:a16="http://schemas.microsoft.com/office/drawing/2014/main" id="{13FE469B-E787-FFDD-3B82-DBE351F5B7AC}"/>
              </a:ext>
            </a:extLst>
          </p:cNvPr>
          <p:cNvSpPr txBox="1"/>
          <p:nvPr/>
        </p:nvSpPr>
        <p:spPr>
          <a:xfrm>
            <a:off x="5522119" y="2478881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33" name="Rounded Rectangle 78">
            <a:extLst>
              <a:ext uri="{FF2B5EF4-FFF2-40B4-BE49-F238E27FC236}">
                <a16:creationId xmlns:a16="http://schemas.microsoft.com/office/drawing/2014/main" id="{859709DC-00E6-FB53-628A-B582ED584E73}"/>
              </a:ext>
            </a:extLst>
          </p:cNvPr>
          <p:cNvSpPr/>
          <p:nvPr/>
        </p:nvSpPr>
        <p:spPr>
          <a:xfrm>
            <a:off x="6136482" y="2321718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34" name="Connector 79">
            <a:extLst>
              <a:ext uri="{FF2B5EF4-FFF2-40B4-BE49-F238E27FC236}">
                <a16:creationId xmlns:a16="http://schemas.microsoft.com/office/drawing/2014/main" id="{CE369AE5-6DAA-B8BE-20FE-F903ED6B7270}"/>
              </a:ext>
            </a:extLst>
          </p:cNvPr>
          <p:cNvCxnSpPr/>
          <p:nvPr/>
        </p:nvCxnSpPr>
        <p:spPr>
          <a:xfrm>
            <a:off x="6186488" y="2393156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80">
            <a:extLst>
              <a:ext uri="{FF2B5EF4-FFF2-40B4-BE49-F238E27FC236}">
                <a16:creationId xmlns:a16="http://schemas.microsoft.com/office/drawing/2014/main" id="{CDD5C3C0-81E1-8CCB-75F9-603B66E57D48}"/>
              </a:ext>
            </a:extLst>
          </p:cNvPr>
          <p:cNvCxnSpPr/>
          <p:nvPr/>
        </p:nvCxnSpPr>
        <p:spPr>
          <a:xfrm>
            <a:off x="6186488" y="2450306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81">
            <a:extLst>
              <a:ext uri="{FF2B5EF4-FFF2-40B4-BE49-F238E27FC236}">
                <a16:creationId xmlns:a16="http://schemas.microsoft.com/office/drawing/2014/main" id="{B5E3B315-02AB-7883-497D-4171DC3ED9BE}"/>
              </a:ext>
            </a:extLst>
          </p:cNvPr>
          <p:cNvCxnSpPr/>
          <p:nvPr/>
        </p:nvCxnSpPr>
        <p:spPr>
          <a:xfrm>
            <a:off x="6186488" y="2507456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82">
            <a:extLst>
              <a:ext uri="{FF2B5EF4-FFF2-40B4-BE49-F238E27FC236}">
                <a16:creationId xmlns:a16="http://schemas.microsoft.com/office/drawing/2014/main" id="{5EF52E49-854B-718D-27E4-FB505B067003}"/>
              </a:ext>
            </a:extLst>
          </p:cNvPr>
          <p:cNvSpPr txBox="1"/>
          <p:nvPr/>
        </p:nvSpPr>
        <p:spPr>
          <a:xfrm>
            <a:off x="6165057" y="2478881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38" name="TextBox 83">
            <a:extLst>
              <a:ext uri="{FF2B5EF4-FFF2-40B4-BE49-F238E27FC236}">
                <a16:creationId xmlns:a16="http://schemas.microsoft.com/office/drawing/2014/main" id="{33E52A8E-3DA9-640D-BAC8-002645452D3F}"/>
              </a:ext>
            </a:extLst>
          </p:cNvPr>
          <p:cNvSpPr txBox="1"/>
          <p:nvPr/>
        </p:nvSpPr>
        <p:spPr>
          <a:xfrm>
            <a:off x="4850607" y="2778918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555555"/>
                </a:solidFill>
                <a:latin typeface="Calibri"/>
              </a:rPr>
              <a:t>Ex post</a:t>
            </a:r>
          </a:p>
        </p:txBody>
      </p:sp>
      <p:sp>
        <p:nvSpPr>
          <p:cNvPr id="139" name="Rounded Rectangle 84">
            <a:extLst>
              <a:ext uri="{FF2B5EF4-FFF2-40B4-BE49-F238E27FC236}">
                <a16:creationId xmlns:a16="http://schemas.microsoft.com/office/drawing/2014/main" id="{74464F29-8BE1-1170-FFD7-EF47869EB51E}"/>
              </a:ext>
            </a:extLst>
          </p:cNvPr>
          <p:cNvSpPr/>
          <p:nvPr/>
        </p:nvSpPr>
        <p:spPr>
          <a:xfrm>
            <a:off x="5815013" y="2693193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40" name="Connector 85">
            <a:extLst>
              <a:ext uri="{FF2B5EF4-FFF2-40B4-BE49-F238E27FC236}">
                <a16:creationId xmlns:a16="http://schemas.microsoft.com/office/drawing/2014/main" id="{1C7AC527-9F86-08D0-832C-E2A3DB8657A2}"/>
              </a:ext>
            </a:extLst>
          </p:cNvPr>
          <p:cNvCxnSpPr/>
          <p:nvPr/>
        </p:nvCxnSpPr>
        <p:spPr>
          <a:xfrm>
            <a:off x="5865019" y="276463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86">
            <a:extLst>
              <a:ext uri="{FF2B5EF4-FFF2-40B4-BE49-F238E27FC236}">
                <a16:creationId xmlns:a16="http://schemas.microsoft.com/office/drawing/2014/main" id="{9CD39B61-2C39-D855-F3A1-B4FD51143DEF}"/>
              </a:ext>
            </a:extLst>
          </p:cNvPr>
          <p:cNvCxnSpPr/>
          <p:nvPr/>
        </p:nvCxnSpPr>
        <p:spPr>
          <a:xfrm>
            <a:off x="5865019" y="282178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87">
            <a:extLst>
              <a:ext uri="{FF2B5EF4-FFF2-40B4-BE49-F238E27FC236}">
                <a16:creationId xmlns:a16="http://schemas.microsoft.com/office/drawing/2014/main" id="{7F1127B0-0399-7208-B13E-DFCA508E26A0}"/>
              </a:ext>
            </a:extLst>
          </p:cNvPr>
          <p:cNvCxnSpPr/>
          <p:nvPr/>
        </p:nvCxnSpPr>
        <p:spPr>
          <a:xfrm>
            <a:off x="5865019" y="2878931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88">
            <a:extLst>
              <a:ext uri="{FF2B5EF4-FFF2-40B4-BE49-F238E27FC236}">
                <a16:creationId xmlns:a16="http://schemas.microsoft.com/office/drawing/2014/main" id="{9E6FFF75-75B4-A7A4-C85F-4A00CDC46125}"/>
              </a:ext>
            </a:extLst>
          </p:cNvPr>
          <p:cNvSpPr txBox="1"/>
          <p:nvPr/>
        </p:nvSpPr>
        <p:spPr>
          <a:xfrm>
            <a:off x="5843588" y="2850356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44" name="Rounded Rectangle 89">
            <a:extLst>
              <a:ext uri="{FF2B5EF4-FFF2-40B4-BE49-F238E27FC236}">
                <a16:creationId xmlns:a16="http://schemas.microsoft.com/office/drawing/2014/main" id="{78A1343D-1503-3DF3-3D23-F69E076FD8B0}"/>
              </a:ext>
            </a:extLst>
          </p:cNvPr>
          <p:cNvSpPr/>
          <p:nvPr/>
        </p:nvSpPr>
        <p:spPr>
          <a:xfrm>
            <a:off x="6457950" y="2693193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45" name="Connector 90">
            <a:extLst>
              <a:ext uri="{FF2B5EF4-FFF2-40B4-BE49-F238E27FC236}">
                <a16:creationId xmlns:a16="http://schemas.microsoft.com/office/drawing/2014/main" id="{203D3FCE-CE8F-B79E-FD19-EBAFE3B6511C}"/>
              </a:ext>
            </a:extLst>
          </p:cNvPr>
          <p:cNvCxnSpPr/>
          <p:nvPr/>
        </p:nvCxnSpPr>
        <p:spPr>
          <a:xfrm>
            <a:off x="6507957" y="276463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91">
            <a:extLst>
              <a:ext uri="{FF2B5EF4-FFF2-40B4-BE49-F238E27FC236}">
                <a16:creationId xmlns:a16="http://schemas.microsoft.com/office/drawing/2014/main" id="{B2804915-5F27-4CFD-5B77-4AFF5B5969E4}"/>
              </a:ext>
            </a:extLst>
          </p:cNvPr>
          <p:cNvCxnSpPr/>
          <p:nvPr/>
        </p:nvCxnSpPr>
        <p:spPr>
          <a:xfrm>
            <a:off x="6507957" y="282178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92">
            <a:extLst>
              <a:ext uri="{FF2B5EF4-FFF2-40B4-BE49-F238E27FC236}">
                <a16:creationId xmlns:a16="http://schemas.microsoft.com/office/drawing/2014/main" id="{DEB8CBDE-54AE-8C5C-94D7-0EB1CC7A4B7C}"/>
              </a:ext>
            </a:extLst>
          </p:cNvPr>
          <p:cNvCxnSpPr/>
          <p:nvPr/>
        </p:nvCxnSpPr>
        <p:spPr>
          <a:xfrm>
            <a:off x="6507957" y="2878931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93">
            <a:extLst>
              <a:ext uri="{FF2B5EF4-FFF2-40B4-BE49-F238E27FC236}">
                <a16:creationId xmlns:a16="http://schemas.microsoft.com/office/drawing/2014/main" id="{9527C055-EFEF-5F1F-CA5E-8CF0345BD1BA}"/>
              </a:ext>
            </a:extLst>
          </p:cNvPr>
          <p:cNvSpPr txBox="1"/>
          <p:nvPr/>
        </p:nvSpPr>
        <p:spPr>
          <a:xfrm>
            <a:off x="6486525" y="2850356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cxnSp>
        <p:nvCxnSpPr>
          <p:cNvPr id="149" name="Connector 34">
            <a:extLst>
              <a:ext uri="{FF2B5EF4-FFF2-40B4-BE49-F238E27FC236}">
                <a16:creationId xmlns:a16="http://schemas.microsoft.com/office/drawing/2014/main" id="{7C832344-E12C-02B7-1358-F2C20301851F}"/>
              </a:ext>
            </a:extLst>
          </p:cNvPr>
          <p:cNvCxnSpPr/>
          <p:nvPr/>
        </p:nvCxnSpPr>
        <p:spPr>
          <a:xfrm>
            <a:off x="4772025" y="3100872"/>
            <a:ext cx="2500312" cy="0"/>
          </a:xfrm>
          <a:prstGeom prst="line">
            <a:avLst/>
          </a:prstGeom>
          <a:ln w="15240"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95">
            <a:extLst>
              <a:ext uri="{FF2B5EF4-FFF2-40B4-BE49-F238E27FC236}">
                <a16:creationId xmlns:a16="http://schemas.microsoft.com/office/drawing/2014/main" id="{4D255AF6-3856-5046-0AB7-A46510953C80}"/>
              </a:ext>
            </a:extLst>
          </p:cNvPr>
          <p:cNvSpPr txBox="1"/>
          <p:nvPr/>
        </p:nvSpPr>
        <p:spPr>
          <a:xfrm>
            <a:off x="7814969" y="3159133"/>
            <a:ext cx="885383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1000" i="1" dirty="0">
                <a:solidFill>
                  <a:schemeClr val="accent6"/>
                </a:solidFill>
                <a:latin typeface="Calibri"/>
              </a:rPr>
              <a:t>Dati in formati ad hoc e </a:t>
            </a:r>
            <a:r>
              <a:rPr lang="it-IT" sz="900" i="1" dirty="0">
                <a:solidFill>
                  <a:schemeClr val="accent6"/>
                </a:solidFill>
                <a:latin typeface="Calibri"/>
              </a:rPr>
              <a:t>documentati</a:t>
            </a:r>
            <a:r>
              <a:rPr lang="it-IT" sz="1000" i="1" dirty="0">
                <a:solidFill>
                  <a:schemeClr val="accent6"/>
                </a:solidFill>
                <a:latin typeface="Calibri"/>
              </a:rPr>
              <a:t>!</a:t>
            </a:r>
            <a:endParaRPr lang="it-IT" sz="900" b="1" i="1" dirty="0">
              <a:solidFill>
                <a:schemeClr val="tx1">
                  <a:lumMod val="60000"/>
                  <a:lumOff val="40000"/>
                </a:schemeClr>
              </a:solidFill>
              <a:latin typeface="Calibri"/>
            </a:endParaRPr>
          </a:p>
        </p:txBody>
      </p:sp>
      <p:cxnSp>
        <p:nvCxnSpPr>
          <p:cNvPr id="73" name="Connector 9">
            <a:extLst>
              <a:ext uri="{FF2B5EF4-FFF2-40B4-BE49-F238E27FC236}">
                <a16:creationId xmlns:a16="http://schemas.microsoft.com/office/drawing/2014/main" id="{27AFA3CC-A6B6-C0B5-6C7C-93211D3A6D76}"/>
              </a:ext>
            </a:extLst>
          </p:cNvPr>
          <p:cNvCxnSpPr>
            <a:cxnSpLocks/>
          </p:cNvCxnSpPr>
          <p:nvPr/>
        </p:nvCxnSpPr>
        <p:spPr>
          <a:xfrm flipV="1">
            <a:off x="1035843" y="1378744"/>
            <a:ext cx="1020971" cy="1835943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96">
            <a:extLst>
              <a:ext uri="{FF2B5EF4-FFF2-40B4-BE49-F238E27FC236}">
                <a16:creationId xmlns:a16="http://schemas.microsoft.com/office/drawing/2014/main" id="{991F640F-18A3-AEF8-86C0-B5664821569A}"/>
              </a:ext>
            </a:extLst>
          </p:cNvPr>
          <p:cNvCxnSpPr>
            <a:cxnSpLocks/>
          </p:cNvCxnSpPr>
          <p:nvPr/>
        </p:nvCxnSpPr>
        <p:spPr>
          <a:xfrm>
            <a:off x="5480952" y="3930171"/>
            <a:ext cx="330527" cy="0"/>
          </a:xfrm>
          <a:prstGeom prst="line">
            <a:avLst/>
          </a:prstGeom>
          <a:ln w="190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TextBox 95">
            <a:extLst>
              <a:ext uri="{FF2B5EF4-FFF2-40B4-BE49-F238E27FC236}">
                <a16:creationId xmlns:a16="http://schemas.microsoft.com/office/drawing/2014/main" id="{E8E748DF-28B0-3B45-9D6E-FFAC0AE5CEFA}"/>
              </a:ext>
            </a:extLst>
          </p:cNvPr>
          <p:cNvSpPr txBox="1"/>
          <p:nvPr/>
        </p:nvSpPr>
        <p:spPr>
          <a:xfrm>
            <a:off x="4553847" y="4338933"/>
            <a:ext cx="10611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1000" i="1" dirty="0">
                <a:solidFill>
                  <a:schemeClr val="accent6"/>
                </a:solidFill>
                <a:latin typeface="Calibri"/>
              </a:rPr>
              <a:t>Funzione integrata di creazione questionari</a:t>
            </a:r>
            <a:endParaRPr sz="1000" i="1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111" name="TextBox 83">
            <a:extLst>
              <a:ext uri="{FF2B5EF4-FFF2-40B4-BE49-F238E27FC236}">
                <a16:creationId xmlns:a16="http://schemas.microsoft.com/office/drawing/2014/main" id="{AE8CB06D-9D7F-6542-30B3-AA16CF349C69}"/>
              </a:ext>
            </a:extLst>
          </p:cNvPr>
          <p:cNvSpPr txBox="1"/>
          <p:nvPr/>
        </p:nvSpPr>
        <p:spPr>
          <a:xfrm>
            <a:off x="6815196" y="2401939"/>
            <a:ext cx="557154" cy="307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000" i="1" dirty="0">
                <a:solidFill>
                  <a:schemeClr val="accent6"/>
                </a:solidFill>
                <a:latin typeface="Calibri"/>
              </a:rPr>
              <a:t>Rilevazioni  </a:t>
            </a:r>
          </a:p>
          <a:p>
            <a:pPr algn="l"/>
            <a:r>
              <a:rPr lang="it-IT" sz="1000" i="1" dirty="0">
                <a:solidFill>
                  <a:schemeClr val="accent6"/>
                </a:solidFill>
                <a:latin typeface="Calibri"/>
              </a:rPr>
              <a:t>ad hoc</a:t>
            </a:r>
            <a:endParaRPr sz="1000" i="1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112" name="Rounded Rectangle 84">
            <a:extLst>
              <a:ext uri="{FF2B5EF4-FFF2-40B4-BE49-F238E27FC236}">
                <a16:creationId xmlns:a16="http://schemas.microsoft.com/office/drawing/2014/main" id="{C2393CBA-D360-B25A-793C-D1D343218C15}"/>
              </a:ext>
            </a:extLst>
          </p:cNvPr>
          <p:cNvSpPr/>
          <p:nvPr/>
        </p:nvSpPr>
        <p:spPr>
          <a:xfrm>
            <a:off x="7484348" y="2381523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13" name="Connector 85">
            <a:extLst>
              <a:ext uri="{FF2B5EF4-FFF2-40B4-BE49-F238E27FC236}">
                <a16:creationId xmlns:a16="http://schemas.microsoft.com/office/drawing/2014/main" id="{C5FDD75F-B191-237F-1FB3-17447B5E5051}"/>
              </a:ext>
            </a:extLst>
          </p:cNvPr>
          <p:cNvCxnSpPr>
            <a:cxnSpLocks/>
          </p:cNvCxnSpPr>
          <p:nvPr/>
        </p:nvCxnSpPr>
        <p:spPr>
          <a:xfrm>
            <a:off x="7534354" y="245296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86">
            <a:extLst>
              <a:ext uri="{FF2B5EF4-FFF2-40B4-BE49-F238E27FC236}">
                <a16:creationId xmlns:a16="http://schemas.microsoft.com/office/drawing/2014/main" id="{979C0F0F-700C-FFDB-760B-C05529209267}"/>
              </a:ext>
            </a:extLst>
          </p:cNvPr>
          <p:cNvCxnSpPr>
            <a:cxnSpLocks/>
          </p:cNvCxnSpPr>
          <p:nvPr/>
        </p:nvCxnSpPr>
        <p:spPr>
          <a:xfrm>
            <a:off x="7534354" y="251011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87">
            <a:extLst>
              <a:ext uri="{FF2B5EF4-FFF2-40B4-BE49-F238E27FC236}">
                <a16:creationId xmlns:a16="http://schemas.microsoft.com/office/drawing/2014/main" id="{D3641E46-F451-FDD8-3439-F2DB4D39C8A2}"/>
              </a:ext>
            </a:extLst>
          </p:cNvPr>
          <p:cNvCxnSpPr>
            <a:cxnSpLocks/>
          </p:cNvCxnSpPr>
          <p:nvPr/>
        </p:nvCxnSpPr>
        <p:spPr>
          <a:xfrm>
            <a:off x="7534354" y="2567261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88">
            <a:extLst>
              <a:ext uri="{FF2B5EF4-FFF2-40B4-BE49-F238E27FC236}">
                <a16:creationId xmlns:a16="http://schemas.microsoft.com/office/drawing/2014/main" id="{344787BE-AB5B-2D57-FD9C-1F053F06D520}"/>
              </a:ext>
            </a:extLst>
          </p:cNvPr>
          <p:cNvSpPr txBox="1"/>
          <p:nvPr/>
        </p:nvSpPr>
        <p:spPr>
          <a:xfrm>
            <a:off x="7512923" y="2538686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17" name="TextBox 91">
            <a:extLst>
              <a:ext uri="{FF2B5EF4-FFF2-40B4-BE49-F238E27FC236}">
                <a16:creationId xmlns:a16="http://schemas.microsoft.com/office/drawing/2014/main" id="{AA2553A6-2A2F-92F8-54F7-0DE11F2BEF67}"/>
              </a:ext>
            </a:extLst>
          </p:cNvPr>
          <p:cNvSpPr txBox="1"/>
          <p:nvPr/>
        </p:nvSpPr>
        <p:spPr>
          <a:xfrm>
            <a:off x="4370167" y="3150393"/>
            <a:ext cx="3143250" cy="128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1" dirty="0">
                <a:solidFill>
                  <a:srgbClr val="777777"/>
                </a:solidFill>
                <a:latin typeface="Calibri"/>
              </a:rPr>
              <a:t>un solo </a:t>
            </a:r>
            <a:r>
              <a:rPr sz="700" b="0" i="1" dirty="0" err="1">
                <a:solidFill>
                  <a:srgbClr val="777777"/>
                </a:solidFill>
                <a:latin typeface="Calibri"/>
              </a:rPr>
              <a:t>ciclo</a:t>
            </a:r>
            <a:r>
              <a:rPr sz="700" b="0" i="1" dirty="0">
                <a:solidFill>
                  <a:srgbClr val="777777"/>
                </a:solidFill>
                <a:latin typeface="Calibri"/>
              </a:rPr>
              <a:t> di </a:t>
            </a:r>
            <a:r>
              <a:rPr sz="700" b="0" i="1" dirty="0" err="1">
                <a:solidFill>
                  <a:srgbClr val="777777"/>
                </a:solidFill>
                <a:latin typeface="Calibri"/>
              </a:rPr>
              <a:t>rilevazione</a:t>
            </a:r>
            <a:r>
              <a:rPr sz="700" b="0" i="1" dirty="0">
                <a:solidFill>
                  <a:srgbClr val="777777"/>
                </a:solidFill>
                <a:latin typeface="Calibri"/>
              </a:rPr>
              <a:t>, </a:t>
            </a:r>
            <a:r>
              <a:rPr sz="700" b="0" i="1" dirty="0" err="1">
                <a:solidFill>
                  <a:srgbClr val="777777"/>
                </a:solidFill>
                <a:latin typeface="Calibri"/>
              </a:rPr>
              <a:t>agganciato</a:t>
            </a:r>
            <a:r>
              <a:rPr sz="700" b="0" i="1" dirty="0">
                <a:solidFill>
                  <a:srgbClr val="777777"/>
                </a:solidFill>
                <a:latin typeface="Calibri"/>
              </a:rPr>
              <a:t> alle </a:t>
            </a:r>
            <a:r>
              <a:rPr sz="700" b="0" i="1" dirty="0" err="1">
                <a:solidFill>
                  <a:srgbClr val="777777"/>
                </a:solidFill>
                <a:latin typeface="Calibri"/>
              </a:rPr>
              <a:t>chiavi</a:t>
            </a:r>
            <a:r>
              <a:rPr sz="700" b="0" i="1" dirty="0">
                <a:solidFill>
                  <a:srgbClr val="777777"/>
                </a:solidFill>
                <a:latin typeface="Calibri"/>
              </a:rPr>
              <a:t> SIME</a:t>
            </a:r>
          </a:p>
        </p:txBody>
      </p:sp>
      <p:pic>
        <p:nvPicPr>
          <p:cNvPr id="70" name="Immagine 69">
            <a:extLst>
              <a:ext uri="{FF2B5EF4-FFF2-40B4-BE49-F238E27FC236}">
                <a16:creationId xmlns:a16="http://schemas.microsoft.com/office/drawing/2014/main" id="{23558171-89BD-7CBC-7F1B-9BAB94B40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8" y="3704857"/>
            <a:ext cx="486359" cy="486359"/>
          </a:xfrm>
          <a:prstGeom prst="rect">
            <a:avLst/>
          </a:prstGeom>
        </p:spPr>
      </p:pic>
      <p:pic>
        <p:nvPicPr>
          <p:cNvPr id="71" name="Immagine 70">
            <a:extLst>
              <a:ext uri="{FF2B5EF4-FFF2-40B4-BE49-F238E27FC236}">
                <a16:creationId xmlns:a16="http://schemas.microsoft.com/office/drawing/2014/main" id="{7D60D363-0B2C-78FE-5BB2-188AF7D0B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32" y="3719145"/>
            <a:ext cx="504269" cy="504269"/>
          </a:xfrm>
          <a:prstGeom prst="rect">
            <a:avLst/>
          </a:prstGeom>
        </p:spPr>
      </p:pic>
      <p:sp>
        <p:nvSpPr>
          <p:cNvPr id="72" name="Parentesi graffa aperta 71">
            <a:extLst>
              <a:ext uri="{FF2B5EF4-FFF2-40B4-BE49-F238E27FC236}">
                <a16:creationId xmlns:a16="http://schemas.microsoft.com/office/drawing/2014/main" id="{E814FD03-5FA1-E1AE-77D5-4974FC345715}"/>
              </a:ext>
            </a:extLst>
          </p:cNvPr>
          <p:cNvSpPr/>
          <p:nvPr/>
        </p:nvSpPr>
        <p:spPr>
          <a:xfrm>
            <a:off x="185737" y="1728787"/>
            <a:ext cx="100013" cy="101003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sp>
        <p:nvSpPr>
          <p:cNvPr id="74" name="Parentesi graffa aperta 73">
            <a:extLst>
              <a:ext uri="{FF2B5EF4-FFF2-40B4-BE49-F238E27FC236}">
                <a16:creationId xmlns:a16="http://schemas.microsoft.com/office/drawing/2014/main" id="{E0D53243-4CB0-4279-3829-B15E737CA321}"/>
              </a:ext>
            </a:extLst>
          </p:cNvPr>
          <p:cNvSpPr/>
          <p:nvPr/>
        </p:nvSpPr>
        <p:spPr>
          <a:xfrm>
            <a:off x="167877" y="3214687"/>
            <a:ext cx="100013" cy="101003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sp>
        <p:nvSpPr>
          <p:cNvPr id="75" name="Parentesi graffa aperta 74">
            <a:extLst>
              <a:ext uri="{FF2B5EF4-FFF2-40B4-BE49-F238E27FC236}">
                <a16:creationId xmlns:a16="http://schemas.microsoft.com/office/drawing/2014/main" id="{EE3C4510-CF7D-1D99-754F-E0D40B5DB7A9}"/>
              </a:ext>
            </a:extLst>
          </p:cNvPr>
          <p:cNvSpPr/>
          <p:nvPr/>
        </p:nvSpPr>
        <p:spPr>
          <a:xfrm>
            <a:off x="4643730" y="1888137"/>
            <a:ext cx="100013" cy="1010037"/>
          </a:xfrm>
          <a:prstGeom prst="leftBrac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951" y="70292"/>
            <a:ext cx="5000625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it-IT" sz="2400" b="1" i="0" dirty="0">
                <a:solidFill>
                  <a:schemeClr val="tx2"/>
                </a:solidFill>
                <a:latin typeface="Calibri"/>
              </a:rPr>
              <a:t>Prossimi passi operativi  </a:t>
            </a:r>
            <a:endParaRPr sz="2400" b="1" i="0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85750" y="500062"/>
            <a:ext cx="3877622" cy="439340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06246" y="542925"/>
            <a:ext cx="3658203" cy="4393406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 flipH="1">
            <a:off x="8016100" y="542925"/>
            <a:ext cx="1000124" cy="446484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6960" y="547606"/>
            <a:ext cx="3834761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>
                <a:solidFill>
                  <a:srgbClr val="666666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0926" y="541965"/>
            <a:ext cx="3877621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>
                <a:solidFill>
                  <a:srgbClr val="666666"/>
                </a:solidFill>
                <a:latin typeface="Calibri"/>
              </a:rPr>
              <a:t>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3226" y="542925"/>
            <a:ext cx="1285875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>
                <a:solidFill>
                  <a:srgbClr val="666666"/>
                </a:solidFill>
                <a:latin typeface="Calibri"/>
              </a:rPr>
              <a:t>2028</a:t>
            </a:r>
            <a:r>
              <a:rPr lang="it-IT" sz="1300" b="1" i="0" dirty="0">
                <a:solidFill>
                  <a:srgbClr val="666666"/>
                </a:solidFill>
                <a:latin typeface="Calibri"/>
              </a:rPr>
              <a:t> …</a:t>
            </a:r>
            <a:endParaRPr sz="1300" b="1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 rot="16200000">
            <a:off x="-116085" y="1920803"/>
            <a:ext cx="593112" cy="235962"/>
          </a:xfrm>
          <a:prstGeom prst="rect">
            <a:avLst/>
          </a:prstGeom>
          <a:noFill/>
        </p:spPr>
        <p:txBody>
          <a:bodyPr wrap="non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88888"/>
                </a:solidFill>
                <a:latin typeface="Calibri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-535244" y="3546201"/>
            <a:ext cx="1431430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it-IT" sz="1200" b="1" i="0" dirty="0">
                <a:solidFill>
                  <a:srgbClr val="888888"/>
                </a:solidFill>
                <a:latin typeface="Calibri"/>
              </a:rPr>
              <a:t>DOMANDE aperte…</a:t>
            </a:r>
            <a:endParaRPr sz="1200" b="1" i="0" dirty="0">
              <a:solidFill>
                <a:srgbClr val="888888"/>
              </a:solidFill>
              <a:latin typeface="Calibri"/>
            </a:endParaRP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294951" y="2739628"/>
            <a:ext cx="8572500" cy="0"/>
          </a:xfrm>
          <a:prstGeom prst="line">
            <a:avLst/>
          </a:prstGeom>
          <a:ln w="27940">
            <a:solidFill>
              <a:srgbClr val="0E66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758194" y="1631025"/>
            <a:ext cx="1037069" cy="815517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Analisi e </a:t>
            </a:r>
            <a:r>
              <a:rPr lang="it-IT" sz="1000" b="0" i="0" dirty="0" err="1">
                <a:solidFill>
                  <a:srgbClr val="333333"/>
                </a:solidFill>
                <a:latin typeface="Calibri"/>
              </a:rPr>
              <a:t>p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roposta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questionario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unificato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03779" y="1631025"/>
            <a:ext cx="990829" cy="815518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Lista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requisiti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tecnici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 x AE e </a:t>
            </a:r>
            <a:r>
              <a:rPr lang="it-IT" sz="1000" b="0" i="0" dirty="0" err="1">
                <a:solidFill>
                  <a:srgbClr val="333333"/>
                </a:solidFill>
                <a:latin typeface="Calibri"/>
              </a:rPr>
              <a:t>Oss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.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33270" y="1631025"/>
            <a:ext cx="848329" cy="85145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 err="1">
                <a:solidFill>
                  <a:srgbClr val="333333"/>
                </a:solidFill>
                <a:latin typeface="Calibri"/>
              </a:rPr>
              <a:t>R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ichiesta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proposte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altri Fornitori? 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84405" y="920108"/>
            <a:ext cx="950117" cy="470806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Demo, Referenze ?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903879" y="1631025"/>
            <a:ext cx="911001" cy="89294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Nuovo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contratto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e/o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rinegoziazioni</a:t>
            </a:r>
            <a:endParaRPr lang="it-IT" sz="1000" b="0" i="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(</a:t>
            </a:r>
            <a:r>
              <a:rPr sz="1000" b="1" i="0" dirty="0">
                <a:solidFill>
                  <a:srgbClr val="333333"/>
                </a:solidFill>
                <a:latin typeface="Calibri"/>
              </a:rPr>
              <a:t>OIS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, Infor)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19978" y="1631025"/>
            <a:ext cx="829325" cy="847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Test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sistema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+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migrazione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storico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1972" y="1631025"/>
            <a:ext cx="842962" cy="8784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 err="1">
                <a:solidFill>
                  <a:srgbClr val="333333"/>
                </a:solidFill>
                <a:latin typeface="Calibri"/>
              </a:rPr>
              <a:t>N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uovo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regime</a:t>
            </a:r>
          </a:p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Questionari unificati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433270" y="3492332"/>
            <a:ext cx="961142" cy="474660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Tempistiche</a:t>
            </a:r>
          </a:p>
          <a:p>
            <a:pPr algn="ctr"/>
            <a:r>
              <a:rPr sz="1000" b="0" i="0" dirty="0">
                <a:solidFill>
                  <a:srgbClr val="7B241C"/>
                </a:solidFill>
                <a:latin typeface="Calibri"/>
              </a:rPr>
              <a:t>SIME → EROWEB?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856" y="4876735"/>
            <a:ext cx="1607773" cy="205184"/>
          </a:xfrm>
          <a:prstGeom prst="rect">
            <a:avLst/>
          </a:prstGeom>
          <a:solidFill>
            <a:srgbClr val="9AE4F5">
              <a:alpha val="50196"/>
            </a:srgbClr>
          </a:solidFill>
        </p:spPr>
        <p:txBody>
          <a:bodyPr wrap="square" lIns="25400" tIns="25400" rIns="25400" bIns="25400" anchor="ctr">
            <a:spAutoFit/>
          </a:bodyPr>
          <a:lstStyle/>
          <a:p>
            <a:r>
              <a:rPr lang="it-IT" sz="1000" i="1" dirty="0">
                <a:solidFill>
                  <a:srgbClr val="2F5D8A"/>
                </a:solidFill>
              </a:rPr>
              <a:t>□ Box</a:t>
            </a:r>
            <a:r>
              <a:rPr sz="1000" i="1" dirty="0">
                <a:solidFill>
                  <a:srgbClr val="2F5D8A"/>
                </a:solidFill>
                <a:latin typeface="Calibri"/>
              </a:rPr>
              <a:t> </a:t>
            </a:r>
            <a:r>
              <a:rPr lang="it-IT" sz="1000" i="1" dirty="0">
                <a:solidFill>
                  <a:srgbClr val="2F5D8A"/>
                </a:solidFill>
                <a:latin typeface="Calibri"/>
              </a:rPr>
              <a:t>blu </a:t>
            </a:r>
            <a:r>
              <a:rPr sz="1000" i="1" dirty="0">
                <a:solidFill>
                  <a:srgbClr val="2F5D8A"/>
                </a:solidFill>
                <a:latin typeface="Calibri"/>
              </a:rPr>
              <a:t>= output </a:t>
            </a:r>
            <a:r>
              <a:rPr lang="it-IT" sz="1000" i="1" dirty="0">
                <a:solidFill>
                  <a:srgbClr val="2F5D8A"/>
                </a:solidFill>
                <a:latin typeface="Calibri"/>
              </a:rPr>
              <a:t>di terzi</a:t>
            </a:r>
            <a:r>
              <a:rPr sz="1000" i="1" dirty="0">
                <a:solidFill>
                  <a:srgbClr val="2F5D8A"/>
                </a:solidFill>
                <a:latin typeface="Calibri"/>
              </a:rPr>
              <a:t>   </a:t>
            </a:r>
          </a:p>
        </p:txBody>
      </p:sp>
      <p:sp>
        <p:nvSpPr>
          <p:cNvPr id="37" name="Rounded Rectangle 31">
            <a:extLst>
              <a:ext uri="{FF2B5EF4-FFF2-40B4-BE49-F238E27FC236}">
                <a16:creationId xmlns:a16="http://schemas.microsoft.com/office/drawing/2014/main" id="{390009FB-0D9B-7D41-C1C2-698572C6EA2D}"/>
              </a:ext>
            </a:extLst>
          </p:cNvPr>
          <p:cNvSpPr/>
          <p:nvPr/>
        </p:nvSpPr>
        <p:spPr>
          <a:xfrm>
            <a:off x="5920449" y="3495835"/>
            <a:ext cx="1143000" cy="507589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 err="1">
                <a:solidFill>
                  <a:srgbClr val="7B241C"/>
                </a:solidFill>
                <a:latin typeface="Calibri"/>
              </a:rPr>
              <a:t>Possiamo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7B241C"/>
                </a:solidFill>
                <a:latin typeface="Calibri"/>
              </a:rPr>
              <a:t>scegliere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7B241C"/>
                </a:solidFill>
                <a:latin typeface="Calibri"/>
              </a:rPr>
              <a:t>fuori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da </a:t>
            </a:r>
            <a:r>
              <a:rPr lang="it-IT" sz="1000" dirty="0">
                <a:solidFill>
                  <a:srgbClr val="7B241C"/>
                </a:solidFill>
                <a:latin typeface="Calibri"/>
              </a:rPr>
              <a:t>E</a:t>
            </a:r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roweb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?</a:t>
            </a:r>
          </a:p>
        </p:txBody>
      </p:sp>
      <p:sp>
        <p:nvSpPr>
          <p:cNvPr id="35" name="Rounded Rectangle 15">
            <a:extLst>
              <a:ext uri="{FF2B5EF4-FFF2-40B4-BE49-F238E27FC236}">
                <a16:creationId xmlns:a16="http://schemas.microsoft.com/office/drawing/2014/main" id="{6C20BE31-F8EB-AC59-D81F-4D3D1F100E62}"/>
              </a:ext>
            </a:extLst>
          </p:cNvPr>
          <p:cNvSpPr/>
          <p:nvPr/>
        </p:nvSpPr>
        <p:spPr>
          <a:xfrm>
            <a:off x="594120" y="922435"/>
            <a:ext cx="1037069" cy="468479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Dati completi </a:t>
            </a:r>
          </a:p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- </a:t>
            </a:r>
            <a:r>
              <a:rPr lang="it-IT" sz="1000" dirty="0">
                <a:solidFill>
                  <a:srgbClr val="333333"/>
                </a:solidFill>
              </a:rPr>
              <a:t>da OIS ✅</a:t>
            </a:r>
          </a:p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- </a:t>
            </a:r>
            <a:r>
              <a:rPr lang="it-IT" sz="1000" dirty="0">
                <a:solidFill>
                  <a:srgbClr val="333333"/>
                </a:solidFill>
                <a:latin typeface="Calibri"/>
              </a:rPr>
              <a:t>da MOVOT </a:t>
            </a:r>
            <a:r>
              <a:rPr lang="it-IT" sz="1000" dirty="0">
                <a:solidFill>
                  <a:srgbClr val="333333"/>
                </a:solidFill>
              </a:rPr>
              <a:t>☑️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0" name="Rounded Rectangle 15">
            <a:extLst>
              <a:ext uri="{FF2B5EF4-FFF2-40B4-BE49-F238E27FC236}">
                <a16:creationId xmlns:a16="http://schemas.microsoft.com/office/drawing/2014/main" id="{30F4F886-DAC8-B816-C794-19743803197A}"/>
              </a:ext>
            </a:extLst>
          </p:cNvPr>
          <p:cNvSpPr/>
          <p:nvPr/>
        </p:nvSpPr>
        <p:spPr>
          <a:xfrm>
            <a:off x="1874075" y="915821"/>
            <a:ext cx="1037069" cy="484643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Piano migrazione</a:t>
            </a:r>
          </a:p>
          <a:p>
            <a:pPr algn="ctr"/>
            <a:r>
              <a:rPr lang="it-IT" sz="1000" dirty="0">
                <a:solidFill>
                  <a:srgbClr val="333333"/>
                </a:solidFill>
                <a:latin typeface="Calibri"/>
              </a:rPr>
              <a:t>SIME –&gt; </a:t>
            </a:r>
            <a:r>
              <a:rPr lang="it-IT" sz="1000" dirty="0" err="1">
                <a:solidFill>
                  <a:srgbClr val="333333"/>
                </a:solidFill>
                <a:latin typeface="Calibri"/>
              </a:rPr>
              <a:t>eroweb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cxnSp>
        <p:nvCxnSpPr>
          <p:cNvPr id="41" name="Connector 96">
            <a:extLst>
              <a:ext uri="{FF2B5EF4-FFF2-40B4-BE49-F238E27FC236}">
                <a16:creationId xmlns:a16="http://schemas.microsoft.com/office/drawing/2014/main" id="{22126A8D-B589-8409-9B6B-EE8CE7D34B07}"/>
              </a:ext>
            </a:extLst>
          </p:cNvPr>
          <p:cNvCxnSpPr>
            <a:cxnSpLocks/>
          </p:cNvCxnSpPr>
          <p:nvPr/>
        </p:nvCxnSpPr>
        <p:spPr>
          <a:xfrm>
            <a:off x="3984244" y="2072727"/>
            <a:ext cx="329404" cy="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Connector 96">
            <a:extLst>
              <a:ext uri="{FF2B5EF4-FFF2-40B4-BE49-F238E27FC236}">
                <a16:creationId xmlns:a16="http://schemas.microsoft.com/office/drawing/2014/main" id="{0EF5EAA5-4CF1-DA54-A6A5-0D510C6F7F7A}"/>
              </a:ext>
            </a:extLst>
          </p:cNvPr>
          <p:cNvCxnSpPr>
            <a:cxnSpLocks/>
          </p:cNvCxnSpPr>
          <p:nvPr/>
        </p:nvCxnSpPr>
        <p:spPr>
          <a:xfrm>
            <a:off x="5417350" y="2072727"/>
            <a:ext cx="330527" cy="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Rounded Rectangle 18">
            <a:extLst>
              <a:ext uri="{FF2B5EF4-FFF2-40B4-BE49-F238E27FC236}">
                <a16:creationId xmlns:a16="http://schemas.microsoft.com/office/drawing/2014/main" id="{FDC4DE98-F002-0FA9-D337-F5952D92EEBC}"/>
              </a:ext>
            </a:extLst>
          </p:cNvPr>
          <p:cNvSpPr/>
          <p:nvPr/>
        </p:nvSpPr>
        <p:spPr>
          <a:xfrm>
            <a:off x="8079537" y="878883"/>
            <a:ext cx="950117" cy="470806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Nuova/e Piattaforma/e 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1D021-B97E-4278-68B8-C3BF4F06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3DEBED-D169-0EA5-C3C5-B389CFDF9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46" y="120253"/>
            <a:ext cx="8229600" cy="504587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it-IT" sz="2400" b="1" dirty="0">
                <a:solidFill>
                  <a:schemeClr val="tx2"/>
                </a:solidFill>
              </a:rPr>
              <a:t>Cronogramma dettagliato attività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00F65D-2786-6E0B-FB75-F09326367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1600" b="1" i="1" dirty="0"/>
              <a:t> </a:t>
            </a:r>
            <a:endParaRPr lang="it-IT" sz="1200" i="1" dirty="0"/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120764A9-50A9-28FC-86FC-3CC5A91BB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097289"/>
              </p:ext>
            </p:extLst>
          </p:nvPr>
        </p:nvGraphicFramePr>
        <p:xfrm>
          <a:off x="125046" y="734646"/>
          <a:ext cx="8831385" cy="4210678"/>
        </p:xfrm>
        <a:graphic>
          <a:graphicData uri="http://schemas.openxmlformats.org/drawingml/2006/table">
            <a:tbl>
              <a:tblPr bandRow="1"/>
              <a:tblGrid>
                <a:gridCol w="1383323">
                  <a:extLst>
                    <a:ext uri="{9D8B030D-6E8A-4147-A177-3AD203B41FA5}">
                      <a16:colId xmlns:a16="http://schemas.microsoft.com/office/drawing/2014/main" val="3101385800"/>
                    </a:ext>
                  </a:extLst>
                </a:gridCol>
                <a:gridCol w="4079631">
                  <a:extLst>
                    <a:ext uri="{9D8B030D-6E8A-4147-A177-3AD203B41FA5}">
                      <a16:colId xmlns:a16="http://schemas.microsoft.com/office/drawing/2014/main" val="3382270319"/>
                    </a:ext>
                  </a:extLst>
                </a:gridCol>
                <a:gridCol w="1461477">
                  <a:extLst>
                    <a:ext uri="{9D8B030D-6E8A-4147-A177-3AD203B41FA5}">
                      <a16:colId xmlns:a16="http://schemas.microsoft.com/office/drawing/2014/main" val="3429441123"/>
                    </a:ext>
                  </a:extLst>
                </a:gridCol>
                <a:gridCol w="953477">
                  <a:extLst>
                    <a:ext uri="{9D8B030D-6E8A-4147-A177-3AD203B41FA5}">
                      <a16:colId xmlns:a16="http://schemas.microsoft.com/office/drawing/2014/main" val="3492327527"/>
                    </a:ext>
                  </a:extLst>
                </a:gridCol>
                <a:gridCol w="953477">
                  <a:extLst>
                    <a:ext uri="{9D8B030D-6E8A-4147-A177-3AD203B41FA5}">
                      <a16:colId xmlns:a16="http://schemas.microsoft.com/office/drawing/2014/main" val="781546144"/>
                    </a:ext>
                  </a:extLst>
                </a:gridCol>
              </a:tblGrid>
              <a:tr h="295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Fase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Attività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Chi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Inizio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Fine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473150"/>
                  </a:ext>
                </a:extLst>
              </a:tr>
              <a:tr h="295302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0) Ricognizione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E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Contratti e vincoli (parte legale) e flussi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Daniela </a:t>
                      </a:r>
                      <a:r>
                        <a:rPr lang="it-IT" sz="1200" b="0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. + (AE?)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18/09/26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043629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Richiesta accesso DIRETTO dati integrali dal 2024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Alberto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18/09/26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841204"/>
                  </a:ext>
                </a:extLst>
              </a:tr>
              <a:tr h="295302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1) Inventario dati e requisiti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5C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Conteggi (tabelle + PDF) + backup + archivio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18/09/26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16/10/26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495507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Matrice </a:t>
                      </a:r>
                      <a:r>
                        <a:rPr lang="it-IT" sz="1200" b="1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overlap</a:t>
                      </a: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 questionari e proposta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AE + IT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05/10/26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16/11/26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17380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Lista di requisiti x fornitori (di contenuto, flusso, archivio)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AE + (Dona)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20/11/26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101681"/>
                  </a:ext>
                </a:extLst>
              </a:tr>
              <a:tr h="295302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2) Opzioni </a:t>
                      </a:r>
                      <a:r>
                        <a:rPr lang="it-IT" sz="1200" b="1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Mkt</a:t>
                      </a:r>
                      <a:endParaRPr lang="it-IT" sz="1200" b="1" i="0" u="none" strike="noStrike" dirty="0">
                        <a:solidFill>
                          <a:srgbClr val="444444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1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RFI (</a:t>
                      </a:r>
                      <a:r>
                        <a:rPr lang="it-IT" sz="1200" b="1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Request</a:t>
                      </a: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 for Information) a 3-5 candidati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Alberto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23/11/26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18/12/26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04489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Referenze pari + valutazione risposte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23/11/26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31/12/26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955596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Scelta del candidato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(Concordata)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09/01/27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29/01/27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3561"/>
                  </a:ext>
                </a:extLst>
              </a:tr>
              <a:tr h="295302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3) </a:t>
                      </a:r>
                      <a:r>
                        <a:rPr lang="it-IT" sz="1200" b="1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Decis</a:t>
                      </a: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 + Pilota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Pilota (1 questionario, 1 ciclo)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01/02/27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30/04/27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854917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Sintesi costi/benefici e proposta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01/05/27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31/05/27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139204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Rinegoziazione condizioni contrattuali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Dona + Luisa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01/05/27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30/06/27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847398"/>
                  </a:ext>
                </a:extLst>
              </a:tr>
              <a:tr h="295302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4) Migrazione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Configurazione e lancio nuovo sistema questionari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Fornitore + Luisa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01/07/27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30/09/27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164027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Migrazione storico + doppio esercizio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Fornitore + Alberto + Luisa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01/09/27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31/12/27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774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455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A0478AD-3A60-ACF4-5C32-409ACF7E18D8}"/>
              </a:ext>
            </a:extLst>
          </p:cNvPr>
          <p:cNvSpPr txBox="1"/>
          <p:nvPr/>
        </p:nvSpPr>
        <p:spPr>
          <a:xfrm>
            <a:off x="297182" y="3143326"/>
            <a:ext cx="137160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i="1" dirty="0">
                <a:solidFill>
                  <a:schemeClr val="accent6"/>
                </a:solidFill>
                <a:latin typeface="Aptos" panose="020B0004020202020204" pitchFamily="34" charset="0"/>
              </a:rPr>
              <a:t>Questo step potrebbe essere automatizzato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01FF37F-229F-7611-537A-39DDEBA2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32" y="115570"/>
            <a:ext cx="5334000" cy="3048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800" b="1" dirty="0">
                <a:solidFill>
                  <a:srgbClr val="2C5F8D"/>
                </a:solidFill>
                <a:latin typeface="Calibri"/>
              </a:rPr>
              <a:t>Flusso di lavoro MO.V.O.T al 2026</a:t>
            </a:r>
          </a:p>
        </p:txBody>
      </p:sp>
      <p:sp>
        <p:nvSpPr>
          <p:cNvPr id="101" name="Dot 101"/>
          <p:cNvSpPr/>
          <p:nvPr/>
        </p:nvSpPr>
        <p:spPr>
          <a:xfrm>
            <a:off x="579128" y="630579"/>
            <a:ext cx="76200" cy="76200"/>
          </a:xfrm>
          <a:prstGeom prst="ellipse">
            <a:avLst/>
          </a:prstGeom>
          <a:solidFill>
            <a:srgbClr val="4EB3A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50"/>
          </a:p>
        </p:txBody>
      </p:sp>
      <p:sp>
        <p:nvSpPr>
          <p:cNvPr id="102" name="Txt 102"/>
          <p:cNvSpPr txBox="1"/>
          <p:nvPr/>
        </p:nvSpPr>
        <p:spPr>
          <a:xfrm>
            <a:off x="723908" y="610259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050" dirty="0">
                <a:solidFill>
                  <a:srgbClr val="333333"/>
                </a:solidFill>
                <a:latin typeface="Calibri"/>
              </a:rPr>
              <a:t>Area Erogativa</a:t>
            </a:r>
          </a:p>
        </p:txBody>
      </p:sp>
      <p:sp>
        <p:nvSpPr>
          <p:cNvPr id="103" name="Dot 103"/>
          <p:cNvSpPr/>
          <p:nvPr/>
        </p:nvSpPr>
        <p:spPr>
          <a:xfrm>
            <a:off x="576584" y="831239"/>
            <a:ext cx="76200" cy="76200"/>
          </a:xfrm>
          <a:prstGeom prst="ellipse">
            <a:avLst/>
          </a:prstGeom>
          <a:solidFill>
            <a:srgbClr val="E07B5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50"/>
          </a:p>
        </p:txBody>
      </p:sp>
      <p:sp>
        <p:nvSpPr>
          <p:cNvPr id="104" name="Txt 104"/>
          <p:cNvSpPr txBox="1"/>
          <p:nvPr/>
        </p:nvSpPr>
        <p:spPr>
          <a:xfrm>
            <a:off x="698504" y="810919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050" dirty="0" err="1">
                <a:solidFill>
                  <a:srgbClr val="333333"/>
                </a:solidFill>
                <a:latin typeface="Calibri"/>
              </a:rPr>
              <a:t>Infor</a:t>
            </a:r>
            <a:endParaRPr lang="it-IT" sz="105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05" name="Dot 105"/>
          <p:cNvSpPr/>
          <p:nvPr/>
        </p:nvSpPr>
        <p:spPr>
          <a:xfrm>
            <a:off x="576584" y="1033169"/>
            <a:ext cx="76200" cy="76200"/>
          </a:xfrm>
          <a:prstGeom prst="ellipse">
            <a:avLst/>
          </a:prstGeom>
          <a:solidFill>
            <a:srgbClr val="7F9DB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50"/>
          </a:p>
        </p:txBody>
      </p:sp>
      <p:sp>
        <p:nvSpPr>
          <p:cNvPr id="106" name="Txt 106"/>
          <p:cNvSpPr txBox="1"/>
          <p:nvPr/>
        </p:nvSpPr>
        <p:spPr>
          <a:xfrm>
            <a:off x="698504" y="1012849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050" dirty="0">
                <a:solidFill>
                  <a:srgbClr val="333333"/>
                </a:solidFill>
                <a:latin typeface="Calibri"/>
              </a:rPr>
              <a:t>Enti Beneficiari</a:t>
            </a:r>
          </a:p>
        </p:txBody>
      </p:sp>
      <p:sp>
        <p:nvSpPr>
          <p:cNvPr id="107" name="Dot 107"/>
          <p:cNvSpPr/>
          <p:nvPr/>
        </p:nvSpPr>
        <p:spPr>
          <a:xfrm>
            <a:off x="576584" y="1221764"/>
            <a:ext cx="76200" cy="76200"/>
          </a:xfrm>
          <a:prstGeom prst="ellipse">
            <a:avLst/>
          </a:prstGeom>
          <a:solidFill>
            <a:srgbClr val="0E665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50"/>
          </a:p>
        </p:txBody>
      </p:sp>
      <p:sp>
        <p:nvSpPr>
          <p:cNvPr id="108" name="Txt 108"/>
          <p:cNvSpPr txBox="1"/>
          <p:nvPr/>
        </p:nvSpPr>
        <p:spPr>
          <a:xfrm>
            <a:off x="698504" y="1201444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050" dirty="0">
                <a:solidFill>
                  <a:srgbClr val="333333"/>
                </a:solidFill>
                <a:latin typeface="Calibri"/>
              </a:rPr>
              <a:t>Osservatorio</a:t>
            </a:r>
          </a:p>
        </p:txBody>
      </p:sp>
      <p:sp>
        <p:nvSpPr>
          <p:cNvPr id="111" name="Box 111"/>
          <p:cNvSpPr/>
          <p:nvPr/>
        </p:nvSpPr>
        <p:spPr>
          <a:xfrm>
            <a:off x="2832104" y="476255"/>
            <a:ext cx="4064000" cy="112521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dash"/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>
              <a:buNone/>
            </a:pPr>
            <a:endParaRPr lang="it-IT" sz="1050"/>
          </a:p>
        </p:txBody>
      </p:sp>
      <p:sp>
        <p:nvSpPr>
          <p:cNvPr id="112" name="Txt 112"/>
          <p:cNvSpPr txBox="1"/>
          <p:nvPr/>
        </p:nvSpPr>
        <p:spPr>
          <a:xfrm>
            <a:off x="3035304" y="532129"/>
            <a:ext cx="1905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050" b="1" dirty="0" err="1">
                <a:solidFill>
                  <a:srgbClr val="555555"/>
                </a:solidFill>
                <a:latin typeface="Calibri"/>
              </a:rPr>
              <a:t>Infor</a:t>
            </a:r>
            <a:endParaRPr lang="it-IT" sz="1050" b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113" name="Txt 113"/>
          <p:cNvSpPr txBox="1"/>
          <p:nvPr/>
        </p:nvSpPr>
        <p:spPr>
          <a:xfrm>
            <a:off x="2959104" y="72009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050" dirty="0">
                <a:solidFill>
                  <a:srgbClr val="666666"/>
                </a:solidFill>
                <a:latin typeface="Calibri"/>
              </a:rPr>
              <a:t>Macchina virtuale — Microsoft Azure / di proprietà della Fondazione (a canone) / accesso via VPN: manutenzione, schema e tabelle</a:t>
            </a:r>
          </a:p>
        </p:txBody>
      </p:sp>
      <p:sp>
        <p:nvSpPr>
          <p:cNvPr id="114" name="Box 114"/>
          <p:cNvSpPr/>
          <p:nvPr/>
        </p:nvSpPr>
        <p:spPr>
          <a:xfrm>
            <a:off x="3284220" y="1123951"/>
            <a:ext cx="1478284" cy="4318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7B54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>
              <a:buNone/>
            </a:pPr>
            <a:endParaRPr lang="it-IT" sz="1050"/>
          </a:p>
        </p:txBody>
      </p:sp>
      <p:sp>
        <p:nvSpPr>
          <p:cNvPr id="115" name="Txt 115"/>
          <p:cNvSpPr txBox="1"/>
          <p:nvPr/>
        </p:nvSpPr>
        <p:spPr>
          <a:xfrm>
            <a:off x="3345740" y="1174751"/>
            <a:ext cx="1315163" cy="3454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050" dirty="0">
                <a:solidFill>
                  <a:srgbClr val="333333"/>
                </a:solidFill>
                <a:latin typeface="Calibri"/>
              </a:rPr>
              <a:t>Web app Infor – ASPX + JavaScript</a:t>
            </a:r>
          </a:p>
        </p:txBody>
      </p:sp>
      <p:sp>
        <p:nvSpPr>
          <p:cNvPr id="116" name="Box 116"/>
          <p:cNvSpPr/>
          <p:nvPr/>
        </p:nvSpPr>
        <p:spPr>
          <a:xfrm>
            <a:off x="4864104" y="1123950"/>
            <a:ext cx="1292856" cy="4318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accent6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>
              <a:buNone/>
            </a:pPr>
            <a:endParaRPr lang="it-IT" sz="1050"/>
          </a:p>
        </p:txBody>
      </p:sp>
      <p:sp>
        <p:nvSpPr>
          <p:cNvPr id="117" name="Txt 117"/>
          <p:cNvSpPr txBox="1"/>
          <p:nvPr/>
        </p:nvSpPr>
        <p:spPr>
          <a:xfrm>
            <a:off x="4965704" y="1174751"/>
            <a:ext cx="1150196" cy="3187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050" dirty="0">
                <a:solidFill>
                  <a:srgbClr val="333333"/>
                </a:solidFill>
                <a:latin typeface="Calibri"/>
              </a:rPr>
              <a:t>SQL Server – tabelle referenziate</a:t>
            </a:r>
          </a:p>
        </p:txBody>
      </p:sp>
      <p:sp>
        <p:nvSpPr>
          <p:cNvPr id="118" name="Box 118"/>
          <p:cNvSpPr/>
          <p:nvPr/>
        </p:nvSpPr>
        <p:spPr>
          <a:xfrm>
            <a:off x="297182" y="2350845"/>
            <a:ext cx="1371600" cy="73657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EB3A5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050" b="1" dirty="0">
                <a:solidFill>
                  <a:srgbClr val="4EB3A5"/>
                </a:solidFill>
                <a:latin typeface="Calibri"/>
              </a:rPr>
              <a:t>Lista da invitare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1050" dirty="0">
                <a:solidFill>
                  <a:srgbClr val="333333"/>
                </a:solidFill>
                <a:latin typeface="Calibri"/>
              </a:rPr>
              <a:t>Excel: richiedenti / bando / anno</a:t>
            </a:r>
          </a:p>
        </p:txBody>
      </p:sp>
      <p:sp>
        <p:nvSpPr>
          <p:cNvPr id="119" name="Box 119"/>
          <p:cNvSpPr/>
          <p:nvPr/>
        </p:nvSpPr>
        <p:spPr>
          <a:xfrm>
            <a:off x="1897382" y="2350845"/>
            <a:ext cx="1371600" cy="73657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7B54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050" b="1" dirty="0">
                <a:solidFill>
                  <a:srgbClr val="E07B54"/>
                </a:solidFill>
                <a:latin typeface="Calibri"/>
              </a:rPr>
              <a:t>Verifiche e attivazione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1050" dirty="0">
                <a:solidFill>
                  <a:srgbClr val="333333"/>
                </a:solidFill>
                <a:latin typeface="Calibri"/>
              </a:rPr>
              <a:t>controlli di sicurezza</a:t>
            </a:r>
          </a:p>
        </p:txBody>
      </p:sp>
      <p:sp>
        <p:nvSpPr>
          <p:cNvPr id="120" name="Box 120"/>
          <p:cNvSpPr/>
          <p:nvPr/>
        </p:nvSpPr>
        <p:spPr>
          <a:xfrm>
            <a:off x="3497582" y="2350845"/>
            <a:ext cx="1371600" cy="73657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F9DB9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050" b="1" dirty="0">
                <a:solidFill>
                  <a:srgbClr val="7F9DB9"/>
                </a:solidFill>
                <a:latin typeface="Calibri"/>
              </a:rPr>
              <a:t>Compilazione online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1050" dirty="0">
                <a:solidFill>
                  <a:srgbClr val="333333"/>
                </a:solidFill>
                <a:latin typeface="Calibri"/>
              </a:rPr>
              <a:t>link sul sito, password, stato pratica</a:t>
            </a:r>
          </a:p>
        </p:txBody>
      </p:sp>
      <p:sp>
        <p:nvSpPr>
          <p:cNvPr id="121" name="Box 121"/>
          <p:cNvSpPr/>
          <p:nvPr/>
        </p:nvSpPr>
        <p:spPr>
          <a:xfrm>
            <a:off x="5097782" y="2350845"/>
            <a:ext cx="1371600" cy="73657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accent6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050" b="1" dirty="0">
                <a:solidFill>
                  <a:srgbClr val="E07B54"/>
                </a:solidFill>
                <a:latin typeface="Calibri"/>
              </a:rPr>
              <a:t>Salvataggio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1050" dirty="0">
                <a:solidFill>
                  <a:srgbClr val="333333"/>
                </a:solidFill>
                <a:latin typeface="Calibri"/>
              </a:rPr>
              <a:t>tabelle SQL Server</a:t>
            </a:r>
          </a:p>
        </p:txBody>
      </p:sp>
      <p:cxnSp>
        <p:nvCxnSpPr>
          <p:cNvPr id="122" name="Arrow 122"/>
          <p:cNvCxnSpPr/>
          <p:nvPr/>
        </p:nvCxnSpPr>
        <p:spPr>
          <a:xfrm>
            <a:off x="1668782" y="2642946"/>
            <a:ext cx="203200" cy="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cxnSp>
        <p:nvCxnSpPr>
          <p:cNvPr id="123" name="Arrow 123"/>
          <p:cNvCxnSpPr/>
          <p:nvPr/>
        </p:nvCxnSpPr>
        <p:spPr>
          <a:xfrm>
            <a:off x="3268982" y="2642946"/>
            <a:ext cx="203200" cy="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cxnSp>
        <p:nvCxnSpPr>
          <p:cNvPr id="124" name="Arrow 124"/>
          <p:cNvCxnSpPr/>
          <p:nvPr/>
        </p:nvCxnSpPr>
        <p:spPr>
          <a:xfrm>
            <a:off x="4869182" y="2642946"/>
            <a:ext cx="203200" cy="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sp>
        <p:nvSpPr>
          <p:cNvPr id="125" name="Box 125"/>
          <p:cNvSpPr/>
          <p:nvPr/>
        </p:nvSpPr>
        <p:spPr>
          <a:xfrm>
            <a:off x="6926582" y="2173046"/>
            <a:ext cx="1879600" cy="50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EB3A5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050" b="1" dirty="0">
                <a:solidFill>
                  <a:srgbClr val="4EB3A5"/>
                </a:solidFill>
                <a:latin typeface="Calibri"/>
              </a:rPr>
              <a:t>Grafici ed Excel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1050" dirty="0">
                <a:solidFill>
                  <a:srgbClr val="333333"/>
                </a:solidFill>
                <a:latin typeface="Calibri"/>
              </a:rPr>
              <a:t>aggregati dall'applicazione</a:t>
            </a:r>
          </a:p>
        </p:txBody>
      </p:sp>
      <p:sp>
        <p:nvSpPr>
          <p:cNvPr id="126" name="Box 126"/>
          <p:cNvSpPr/>
          <p:nvPr/>
        </p:nvSpPr>
        <p:spPr>
          <a:xfrm>
            <a:off x="6926582" y="2833446"/>
            <a:ext cx="1879600" cy="50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6655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050" b="1" dirty="0">
                <a:solidFill>
                  <a:srgbClr val="0E6655"/>
                </a:solidFill>
                <a:latin typeface="Calibri"/>
              </a:rPr>
              <a:t>Vista sul DB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1050" dirty="0">
                <a:solidFill>
                  <a:srgbClr val="333333"/>
                </a:solidFill>
                <a:latin typeface="Calibri"/>
              </a:rPr>
              <a:t>domanda + risposte, via VPN</a:t>
            </a:r>
          </a:p>
        </p:txBody>
      </p:sp>
      <p:cxnSp>
        <p:nvCxnSpPr>
          <p:cNvPr id="127" name="Arrow 127"/>
          <p:cNvCxnSpPr/>
          <p:nvPr/>
        </p:nvCxnSpPr>
        <p:spPr>
          <a:xfrm flipV="1">
            <a:off x="6469382" y="2427046"/>
            <a:ext cx="431800" cy="21590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cxnSp>
        <p:nvCxnSpPr>
          <p:cNvPr id="128" name="Arrow 128"/>
          <p:cNvCxnSpPr/>
          <p:nvPr/>
        </p:nvCxnSpPr>
        <p:spPr>
          <a:xfrm>
            <a:off x="6469382" y="2642946"/>
            <a:ext cx="431800" cy="44450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sp>
        <p:nvSpPr>
          <p:cNvPr id="130" name="Num 130"/>
          <p:cNvSpPr/>
          <p:nvPr/>
        </p:nvSpPr>
        <p:spPr>
          <a:xfrm>
            <a:off x="233682" y="2274646"/>
            <a:ext cx="190500" cy="190500"/>
          </a:xfrm>
          <a:prstGeom prst="ellipse">
            <a:avLst/>
          </a:prstGeom>
          <a:solidFill>
            <a:srgbClr val="4EB3A5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105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1" name="Num 131"/>
          <p:cNvSpPr/>
          <p:nvPr/>
        </p:nvSpPr>
        <p:spPr>
          <a:xfrm>
            <a:off x="1833882" y="2274646"/>
            <a:ext cx="190500" cy="190500"/>
          </a:xfrm>
          <a:prstGeom prst="ellipse">
            <a:avLst/>
          </a:prstGeom>
          <a:solidFill>
            <a:srgbClr val="E07B54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105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2" name="Num 132"/>
          <p:cNvSpPr/>
          <p:nvPr/>
        </p:nvSpPr>
        <p:spPr>
          <a:xfrm>
            <a:off x="3434082" y="2274646"/>
            <a:ext cx="190500" cy="190500"/>
          </a:xfrm>
          <a:prstGeom prst="ellipse">
            <a:avLst/>
          </a:prstGeom>
          <a:solidFill>
            <a:srgbClr val="7F9DB9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105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3" name="Num 133"/>
          <p:cNvSpPr/>
          <p:nvPr/>
        </p:nvSpPr>
        <p:spPr>
          <a:xfrm>
            <a:off x="5034282" y="2274646"/>
            <a:ext cx="190500" cy="1905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105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4" name="Num 134"/>
          <p:cNvSpPr/>
          <p:nvPr/>
        </p:nvSpPr>
        <p:spPr>
          <a:xfrm>
            <a:off x="6850382" y="2096846"/>
            <a:ext cx="215900" cy="215900"/>
          </a:xfrm>
          <a:prstGeom prst="ellipse">
            <a:avLst/>
          </a:prstGeom>
          <a:solidFill>
            <a:srgbClr val="4EB3A5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1050" b="1" dirty="0">
                <a:solidFill>
                  <a:srgbClr val="FFFFFF"/>
                </a:solidFill>
                <a:latin typeface="Calibri"/>
              </a:rPr>
              <a:t>5a</a:t>
            </a:r>
          </a:p>
        </p:txBody>
      </p:sp>
      <p:sp>
        <p:nvSpPr>
          <p:cNvPr id="135" name="Num 135"/>
          <p:cNvSpPr/>
          <p:nvPr/>
        </p:nvSpPr>
        <p:spPr>
          <a:xfrm>
            <a:off x="6850382" y="2757246"/>
            <a:ext cx="215900" cy="215900"/>
          </a:xfrm>
          <a:prstGeom prst="ellipse">
            <a:avLst/>
          </a:prstGeom>
          <a:solidFill>
            <a:srgbClr val="0E6655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1050" b="1" dirty="0">
                <a:solidFill>
                  <a:srgbClr val="FFFFFF"/>
                </a:solidFill>
                <a:latin typeface="Calibri"/>
              </a:rPr>
              <a:t>5b</a:t>
            </a:r>
          </a:p>
        </p:txBody>
      </p:sp>
      <p:cxnSp>
        <p:nvCxnSpPr>
          <p:cNvPr id="302" name="Arrow 302"/>
          <p:cNvCxnSpPr>
            <a:cxnSpLocks/>
            <a:endCxn id="121" idx="0"/>
          </p:cNvCxnSpPr>
          <p:nvPr/>
        </p:nvCxnSpPr>
        <p:spPr>
          <a:xfrm>
            <a:off x="4742182" y="1636386"/>
            <a:ext cx="1041400" cy="714459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cxnSp>
        <p:nvCxnSpPr>
          <p:cNvPr id="5" name="Arrow 302">
            <a:extLst>
              <a:ext uri="{FF2B5EF4-FFF2-40B4-BE49-F238E27FC236}">
                <a16:creationId xmlns:a16="http://schemas.microsoft.com/office/drawing/2014/main" id="{261C2CB6-50CB-14C6-10A6-29158C5B2639}"/>
              </a:ext>
            </a:extLst>
          </p:cNvPr>
          <p:cNvCxnSpPr>
            <a:cxnSpLocks/>
            <a:endCxn id="119" idx="0"/>
          </p:cNvCxnSpPr>
          <p:nvPr/>
        </p:nvCxnSpPr>
        <p:spPr>
          <a:xfrm flipH="1">
            <a:off x="2583182" y="1624332"/>
            <a:ext cx="2133600" cy="726513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sp>
        <p:nvSpPr>
          <p:cNvPr id="22" name="Dot 103">
            <a:extLst>
              <a:ext uri="{FF2B5EF4-FFF2-40B4-BE49-F238E27FC236}">
                <a16:creationId xmlns:a16="http://schemas.microsoft.com/office/drawing/2014/main" id="{116A6C21-5ECB-EF4E-261C-8DE1C56DAD0A}"/>
              </a:ext>
            </a:extLst>
          </p:cNvPr>
          <p:cNvSpPr/>
          <p:nvPr/>
        </p:nvSpPr>
        <p:spPr>
          <a:xfrm>
            <a:off x="2923544" y="572159"/>
            <a:ext cx="76200" cy="76200"/>
          </a:xfrm>
          <a:prstGeom prst="ellipse">
            <a:avLst/>
          </a:prstGeom>
          <a:solidFill>
            <a:srgbClr val="E07B5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50"/>
          </a:p>
        </p:txBody>
      </p:sp>
      <p:sp>
        <p:nvSpPr>
          <p:cNvPr id="25" name="Box 111">
            <a:extLst>
              <a:ext uri="{FF2B5EF4-FFF2-40B4-BE49-F238E27FC236}">
                <a16:creationId xmlns:a16="http://schemas.microsoft.com/office/drawing/2014/main" id="{F5E0E01A-8FC3-392D-C7D2-7C0FD63284A5}"/>
              </a:ext>
            </a:extLst>
          </p:cNvPr>
          <p:cNvSpPr/>
          <p:nvPr/>
        </p:nvSpPr>
        <p:spPr>
          <a:xfrm>
            <a:off x="576582" y="1928241"/>
            <a:ext cx="812800" cy="2723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dash"/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>
              <a:buNone/>
            </a:pPr>
            <a:r>
              <a:rPr lang="it-IT" sz="1050" dirty="0"/>
              <a:t>[ da Sime ]</a:t>
            </a:r>
          </a:p>
        </p:txBody>
      </p:sp>
      <p:cxnSp>
        <p:nvCxnSpPr>
          <p:cNvPr id="28" name="Arrow 122">
            <a:extLst>
              <a:ext uri="{FF2B5EF4-FFF2-40B4-BE49-F238E27FC236}">
                <a16:creationId xmlns:a16="http://schemas.microsoft.com/office/drawing/2014/main" id="{73691A0B-8249-C394-9D85-787E8FA6F04F}"/>
              </a:ext>
            </a:extLst>
          </p:cNvPr>
          <p:cNvCxnSpPr>
            <a:cxnSpLocks/>
            <a:stCxn id="25" idx="2"/>
            <a:endCxn id="118" idx="0"/>
          </p:cNvCxnSpPr>
          <p:nvPr/>
        </p:nvCxnSpPr>
        <p:spPr>
          <a:xfrm>
            <a:off x="982982" y="2200631"/>
            <a:ext cx="0" cy="150214"/>
          </a:xfrm>
          <a:prstGeom prst="straightConnector1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sysDash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50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9094F10-3E0F-6FAD-5C90-840F5C230A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ANNESSO</a:t>
            </a:r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A5B3E2C0-4B3D-F2ED-7356-F64E6FD9E7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435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58CE3E-EF61-38BD-88DB-1E78626E0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39E2E6-BEA9-5E3C-C165-2614FA9C27B1}"/>
              </a:ext>
            </a:extLst>
          </p:cNvPr>
          <p:cNvSpPr txBox="1"/>
          <p:nvPr/>
        </p:nvSpPr>
        <p:spPr>
          <a:xfrm>
            <a:off x="285750" y="100012"/>
            <a:ext cx="5000625" cy="3129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it-IT" sz="1700" b="1" i="0" dirty="0">
                <a:solidFill>
                  <a:srgbClr val="0E6655"/>
                </a:solidFill>
                <a:latin typeface="Calibri"/>
              </a:rPr>
              <a:t>Principali </a:t>
            </a:r>
            <a:r>
              <a:rPr lang="it-IT" sz="1700" b="1" i="0">
                <a:solidFill>
                  <a:srgbClr val="0E6655"/>
                </a:solidFill>
                <a:latin typeface="Calibri"/>
              </a:rPr>
              <a:t>r</a:t>
            </a:r>
            <a:r>
              <a:rPr sz="1700" b="1" i="0">
                <a:solidFill>
                  <a:srgbClr val="0E6655"/>
                </a:solidFill>
                <a:latin typeface="Calibri"/>
              </a:rPr>
              <a:t>isultati</a:t>
            </a:r>
            <a:r>
              <a:rPr sz="1700" b="1" i="0" dirty="0">
                <a:solidFill>
                  <a:srgbClr val="0E665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E6655"/>
                </a:solidFill>
                <a:latin typeface="Calibri"/>
              </a:rPr>
              <a:t>attesi</a:t>
            </a:r>
            <a:r>
              <a:rPr sz="1700" b="1" i="0" dirty="0">
                <a:solidFill>
                  <a:srgbClr val="0E6655"/>
                </a:solidFill>
                <a:latin typeface="Calibri"/>
              </a:rPr>
              <a:t> e chi li </a:t>
            </a:r>
            <a:r>
              <a:rPr sz="1700" b="1" i="0" dirty="0" err="1">
                <a:solidFill>
                  <a:srgbClr val="0E6655"/>
                </a:solidFill>
                <a:latin typeface="Calibri"/>
              </a:rPr>
              <a:t>approva</a:t>
            </a:r>
            <a:endParaRPr sz="1700" b="1" i="0" dirty="0">
              <a:solidFill>
                <a:srgbClr val="0E6655"/>
              </a:solidFill>
              <a:latin typeface="Calibri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60E4323-875E-BE9F-BBDC-AF78716D949E}"/>
              </a:ext>
            </a:extLst>
          </p:cNvPr>
          <p:cNvSpPr/>
          <p:nvPr/>
        </p:nvSpPr>
        <p:spPr>
          <a:xfrm>
            <a:off x="285750" y="500062"/>
            <a:ext cx="3286125" cy="439340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5DC33AD-707C-05C7-EDCD-2A92AE38190D}"/>
              </a:ext>
            </a:extLst>
          </p:cNvPr>
          <p:cNvSpPr/>
          <p:nvPr/>
        </p:nvSpPr>
        <p:spPr>
          <a:xfrm>
            <a:off x="3571875" y="542925"/>
            <a:ext cx="4000500" cy="4393406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867DE26-DD9F-398C-E32A-D8F28051B75D}"/>
              </a:ext>
            </a:extLst>
          </p:cNvPr>
          <p:cNvSpPr/>
          <p:nvPr/>
        </p:nvSpPr>
        <p:spPr>
          <a:xfrm>
            <a:off x="7572375" y="500062"/>
            <a:ext cx="1285875" cy="439340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DEB227-8C41-3DF1-5089-2C5745FCB8CF}"/>
              </a:ext>
            </a:extLst>
          </p:cNvPr>
          <p:cNvSpPr txBox="1"/>
          <p:nvPr/>
        </p:nvSpPr>
        <p:spPr>
          <a:xfrm>
            <a:off x="285750" y="542925"/>
            <a:ext cx="3286125" cy="18573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  <a:latin typeface="Calibri"/>
              </a:rPr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21BB6C-E55C-BD67-8842-EAE868378BDB}"/>
              </a:ext>
            </a:extLst>
          </p:cNvPr>
          <p:cNvSpPr txBox="1"/>
          <p:nvPr/>
        </p:nvSpPr>
        <p:spPr>
          <a:xfrm>
            <a:off x="3571875" y="542925"/>
            <a:ext cx="4000500" cy="18573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  <a:latin typeface="Calibri"/>
              </a:rPr>
              <a:t>2027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A8F662-7CAB-FF3F-8301-53447D36661A}"/>
              </a:ext>
            </a:extLst>
          </p:cNvPr>
          <p:cNvSpPr txBox="1"/>
          <p:nvPr/>
        </p:nvSpPr>
        <p:spPr>
          <a:xfrm>
            <a:off x="7572375" y="542925"/>
            <a:ext cx="1285875" cy="18573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  <a:latin typeface="Calibri"/>
              </a:rPr>
              <a:t>2028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41E32-49A5-829C-B107-65D41B6A734D}"/>
              </a:ext>
            </a:extLst>
          </p:cNvPr>
          <p:cNvSpPr txBox="1"/>
          <p:nvPr/>
        </p:nvSpPr>
        <p:spPr>
          <a:xfrm rot="16200000">
            <a:off x="-153680" y="1060738"/>
            <a:ext cx="593112" cy="235962"/>
          </a:xfrm>
          <a:prstGeom prst="rect">
            <a:avLst/>
          </a:prstGeom>
          <a:noFill/>
        </p:spPr>
        <p:txBody>
          <a:bodyPr wrap="non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88888"/>
                </a:solidFill>
                <a:latin typeface="Calibri"/>
              </a:rPr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4159B-B712-68B6-9499-773BA37A50F1}"/>
              </a:ext>
            </a:extLst>
          </p:cNvPr>
          <p:cNvSpPr txBox="1"/>
          <p:nvPr/>
        </p:nvSpPr>
        <p:spPr>
          <a:xfrm rot="16200000">
            <a:off x="-348656" y="3016443"/>
            <a:ext cx="1032848" cy="235962"/>
          </a:xfrm>
          <a:prstGeom prst="rect">
            <a:avLst/>
          </a:prstGeom>
          <a:noFill/>
        </p:spPr>
        <p:txBody>
          <a:bodyPr wrap="non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88888"/>
                </a:solidFill>
                <a:latin typeface="Calibri"/>
              </a:rPr>
              <a:t>APPROVAZIONI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4EAB44-FDB1-4BCD-382A-16E08878F650}"/>
              </a:ext>
            </a:extLst>
          </p:cNvPr>
          <p:cNvSpPr txBox="1"/>
          <p:nvPr/>
        </p:nvSpPr>
        <p:spPr>
          <a:xfrm rot="16200000">
            <a:off x="-262363" y="4143940"/>
            <a:ext cx="810478" cy="235962"/>
          </a:xfrm>
          <a:prstGeom prst="rect">
            <a:avLst/>
          </a:prstGeom>
          <a:noFill/>
        </p:spPr>
        <p:txBody>
          <a:bodyPr wrap="non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88888"/>
                </a:solidFill>
                <a:latin typeface="Calibri"/>
              </a:rPr>
              <a:t>INCERTEZZE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285FDA9E-A262-EE2D-BC93-8C12CD225517}"/>
              </a:ext>
            </a:extLst>
          </p:cNvPr>
          <p:cNvCxnSpPr>
            <a:cxnSpLocks/>
          </p:cNvCxnSpPr>
          <p:nvPr/>
        </p:nvCxnSpPr>
        <p:spPr>
          <a:xfrm>
            <a:off x="285750" y="2486025"/>
            <a:ext cx="8572500" cy="0"/>
          </a:xfrm>
          <a:prstGeom prst="line">
            <a:avLst/>
          </a:prstGeom>
          <a:ln w="27940">
            <a:solidFill>
              <a:srgbClr val="0E66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E781E33-54DE-D3EE-E925-9CE39C2124AB}"/>
              </a:ext>
            </a:extLst>
          </p:cNvPr>
          <p:cNvSpPr/>
          <p:nvPr/>
        </p:nvSpPr>
        <p:spPr>
          <a:xfrm>
            <a:off x="1000125" y="852507"/>
            <a:ext cx="1071562" cy="45525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 err="1">
                <a:solidFill>
                  <a:srgbClr val="333333"/>
                </a:solidFill>
                <a:latin typeface="Calibri"/>
              </a:rPr>
              <a:t>Proposta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questionario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unificato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7D43A8-95EB-29CF-4FB1-E046483E6C40}"/>
              </a:ext>
            </a:extLst>
          </p:cNvPr>
          <p:cNvSpPr/>
          <p:nvPr/>
        </p:nvSpPr>
        <p:spPr>
          <a:xfrm>
            <a:off x="1568361" y="1429357"/>
            <a:ext cx="928687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Lista requisiti tecnici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3D72E6A-E9F8-F643-66F2-2B8278ADC838}"/>
              </a:ext>
            </a:extLst>
          </p:cNvPr>
          <p:cNvSpPr/>
          <p:nvPr/>
        </p:nvSpPr>
        <p:spPr>
          <a:xfrm>
            <a:off x="2607468" y="1838705"/>
            <a:ext cx="928687" cy="4552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RFI: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richiesta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proposte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a 3-5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fornitori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EA485D-B3B4-C146-107D-8472117D5FBB}"/>
              </a:ext>
            </a:extLst>
          </p:cNvPr>
          <p:cNvSpPr/>
          <p:nvPr/>
        </p:nvSpPr>
        <p:spPr>
          <a:xfrm>
            <a:off x="3657600" y="866089"/>
            <a:ext cx="857250" cy="342900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Proposte dei fornitori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54702B5-0454-3E77-308B-23CB8BD65F5F}"/>
              </a:ext>
            </a:extLst>
          </p:cNvPr>
          <p:cNvSpPr/>
          <p:nvPr/>
        </p:nvSpPr>
        <p:spPr>
          <a:xfrm>
            <a:off x="3893343" y="1874357"/>
            <a:ext cx="857250" cy="35718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Referenze (Acri, FOB)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AEC9304-3A42-495D-B88D-10F8CFF4CD9C}"/>
              </a:ext>
            </a:extLst>
          </p:cNvPr>
          <p:cNvSpPr/>
          <p:nvPr/>
        </p:nvSpPr>
        <p:spPr>
          <a:xfrm>
            <a:off x="4177462" y="1374295"/>
            <a:ext cx="785812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 err="1">
                <a:solidFill>
                  <a:srgbClr val="333333"/>
                </a:solidFill>
                <a:latin typeface="Calibri"/>
              </a:rPr>
              <a:t>Scelta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fornitore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/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i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E2FEB02-849D-4817-5936-91DAB883FC95}"/>
              </a:ext>
            </a:extLst>
          </p:cNvPr>
          <p:cNvSpPr/>
          <p:nvPr/>
        </p:nvSpPr>
        <p:spPr>
          <a:xfrm>
            <a:off x="4929187" y="1874357"/>
            <a:ext cx="950117" cy="392902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Demo candidato n.1 (pilota)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17DAB23-68B5-07A2-09F9-A0F0727716AF}"/>
              </a:ext>
            </a:extLst>
          </p:cNvPr>
          <p:cNvSpPr/>
          <p:nvPr/>
        </p:nvSpPr>
        <p:spPr>
          <a:xfrm>
            <a:off x="5486400" y="816081"/>
            <a:ext cx="1071561" cy="72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Nuovo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contratto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+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rinegoziazioni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contratti </a:t>
            </a:r>
          </a:p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(OIS, Infor)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FED381C-6892-E535-4F76-D441ABE68948}"/>
              </a:ext>
            </a:extLst>
          </p:cNvPr>
          <p:cNvSpPr/>
          <p:nvPr/>
        </p:nvSpPr>
        <p:spPr>
          <a:xfrm>
            <a:off x="5986462" y="1874356"/>
            <a:ext cx="1071561" cy="45005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Test sistema + migrazione storico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6CB8D99-6DCF-A4DE-D1F4-C32A9B971E1E}"/>
              </a:ext>
            </a:extLst>
          </p:cNvPr>
          <p:cNvSpPr/>
          <p:nvPr/>
        </p:nvSpPr>
        <p:spPr>
          <a:xfrm>
            <a:off x="6643687" y="866089"/>
            <a:ext cx="842962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Lancio nuovo sistema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7610C79-068E-FD74-6BD0-477B18E564FC}"/>
              </a:ext>
            </a:extLst>
          </p:cNvPr>
          <p:cNvSpPr/>
          <p:nvPr/>
        </p:nvSpPr>
        <p:spPr>
          <a:xfrm>
            <a:off x="7715250" y="1066114"/>
            <a:ext cx="1035843" cy="414337"/>
          </a:xfrm>
          <a:prstGeom prst="roundRect">
            <a:avLst>
              <a:gd name="adj" fmla="val 12000"/>
            </a:avLst>
          </a:prstGeom>
          <a:solidFill>
            <a:srgbClr val="0E6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Primo ciclo a regime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36803AC-EFD9-39F2-F9BF-0A906159BD72}"/>
              </a:ext>
            </a:extLst>
          </p:cNvPr>
          <p:cNvSpPr/>
          <p:nvPr/>
        </p:nvSpPr>
        <p:spPr>
          <a:xfrm>
            <a:off x="392906" y="2853671"/>
            <a:ext cx="967670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1" i="0" dirty="0">
                <a:solidFill>
                  <a:srgbClr val="0E6655"/>
                </a:solidFill>
                <a:latin typeface="Calibri"/>
              </a:rPr>
              <a:t>Avvio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— </a:t>
            </a:r>
            <a:endParaRPr lang="it-IT" sz="1000" b="1" i="0" dirty="0">
              <a:solidFill>
                <a:srgbClr val="0E6655"/>
              </a:solidFill>
              <a:latin typeface="Calibri"/>
            </a:endParaRPr>
          </a:p>
          <a:p>
            <a:pPr algn="ctr"/>
            <a:r>
              <a:rPr lang="it-IT" sz="1000" b="1" dirty="0">
                <a:solidFill>
                  <a:srgbClr val="0E6655"/>
                </a:solidFill>
              </a:rPr>
              <a:t>OK 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Donatella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4749E18-BFBA-8CFB-11EB-D2E0D87CBED6}"/>
              </a:ext>
            </a:extLst>
          </p:cNvPr>
          <p:cNvSpPr/>
          <p:nvPr/>
        </p:nvSpPr>
        <p:spPr>
          <a:xfrm>
            <a:off x="1535906" y="2853671"/>
            <a:ext cx="961142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 dirty="0" err="1">
                <a:solidFill>
                  <a:srgbClr val="0E6655"/>
                </a:solidFill>
                <a:latin typeface="Calibri"/>
              </a:rPr>
              <a:t>Requisiti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— </a:t>
            </a:r>
            <a:endParaRPr lang="it-IT" sz="1000" b="1" i="0" dirty="0">
              <a:solidFill>
                <a:srgbClr val="0E6655"/>
              </a:solidFill>
              <a:latin typeface="Calibri"/>
            </a:endParaRPr>
          </a:p>
          <a:p>
            <a:pPr algn="ctr"/>
            <a:r>
              <a:rPr lang="it-IT" sz="1000" b="1" dirty="0">
                <a:solidFill>
                  <a:srgbClr val="0E6655"/>
                </a:solidFill>
                <a:latin typeface="Calibri"/>
              </a:rPr>
              <a:t>OK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Donatella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8EECE41-4464-C5A4-D9C9-CE4CD967435A}"/>
              </a:ext>
            </a:extLst>
          </p:cNvPr>
          <p:cNvSpPr/>
          <p:nvPr/>
        </p:nvSpPr>
        <p:spPr>
          <a:xfrm>
            <a:off x="2604204" y="2853671"/>
            <a:ext cx="928690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 dirty="0" err="1">
                <a:solidFill>
                  <a:srgbClr val="0E6655"/>
                </a:solidFill>
                <a:latin typeface="Calibri"/>
              </a:rPr>
              <a:t>Invio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RFI — Donatella &amp; IT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937479A-15EF-BF4C-8C10-8872473F4659}"/>
              </a:ext>
            </a:extLst>
          </p:cNvPr>
          <p:cNvSpPr/>
          <p:nvPr/>
        </p:nvSpPr>
        <p:spPr>
          <a:xfrm>
            <a:off x="4177462" y="2853671"/>
            <a:ext cx="1000125" cy="371183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 dirty="0" err="1">
                <a:solidFill>
                  <a:srgbClr val="0E6655"/>
                </a:solidFill>
                <a:latin typeface="Calibri"/>
              </a:rPr>
              <a:t>Scelta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— </a:t>
            </a:r>
            <a:r>
              <a:rPr lang="it-IT" sz="1000" b="1" dirty="0">
                <a:solidFill>
                  <a:srgbClr val="0E6655"/>
                </a:solidFill>
              </a:rPr>
              <a:t>Donatella &amp; IT</a:t>
            </a:r>
            <a:endParaRPr sz="1000" b="1" i="0" dirty="0">
              <a:solidFill>
                <a:srgbClr val="0E6655"/>
              </a:solidFill>
              <a:latin typeface="Calibri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0983D8A-8D2D-244C-D56C-CA17BEF85621}"/>
              </a:ext>
            </a:extLst>
          </p:cNvPr>
          <p:cNvSpPr/>
          <p:nvPr/>
        </p:nvSpPr>
        <p:spPr>
          <a:xfrm>
            <a:off x="5486400" y="2853671"/>
            <a:ext cx="1178718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 dirty="0" err="1">
                <a:solidFill>
                  <a:srgbClr val="0E6655"/>
                </a:solidFill>
                <a:latin typeface="Calibri"/>
              </a:rPr>
              <a:t>Contratt</a:t>
            </a:r>
            <a:r>
              <a:rPr lang="it-IT" sz="1000" b="1" i="0" dirty="0">
                <a:solidFill>
                  <a:srgbClr val="0E6655"/>
                </a:solidFill>
                <a:latin typeface="Calibri"/>
              </a:rPr>
              <a:t>i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— Donatella &amp; IT, </a:t>
            </a:r>
            <a:r>
              <a:rPr sz="1000" b="1" i="0" dirty="0" err="1">
                <a:solidFill>
                  <a:srgbClr val="0E6655"/>
                </a:solidFill>
                <a:latin typeface="Calibri"/>
              </a:rPr>
              <a:t>CdA</a:t>
            </a:r>
            <a:endParaRPr sz="1000" b="1" i="0" dirty="0">
              <a:solidFill>
                <a:srgbClr val="0E6655"/>
              </a:solidFill>
              <a:latin typeface="Calibri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88D9BC8-C8FF-4392-35DA-219FA053ABA3}"/>
              </a:ext>
            </a:extLst>
          </p:cNvPr>
          <p:cNvSpPr/>
          <p:nvPr/>
        </p:nvSpPr>
        <p:spPr>
          <a:xfrm>
            <a:off x="7715250" y="2853671"/>
            <a:ext cx="1035843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>
                <a:solidFill>
                  <a:srgbClr val="0E6655"/>
                </a:solidFill>
                <a:latin typeface="Calibri"/>
              </a:rPr>
              <a:t>Verifica a regime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CC0F90E-BF08-A869-98A2-480155D0AEA1}"/>
              </a:ext>
            </a:extLst>
          </p:cNvPr>
          <p:cNvSpPr/>
          <p:nvPr/>
        </p:nvSpPr>
        <p:spPr>
          <a:xfrm>
            <a:off x="428625" y="3788849"/>
            <a:ext cx="1143000" cy="414337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7B241C"/>
                </a:solidFill>
                <a:latin typeface="Calibri"/>
              </a:rPr>
              <a:t>Tempi di risposta dei fornitori?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1AF39DD-A724-37E3-1376-6B071F6FE3BC}"/>
              </a:ext>
            </a:extLst>
          </p:cNvPr>
          <p:cNvSpPr/>
          <p:nvPr/>
        </p:nvSpPr>
        <p:spPr>
          <a:xfrm>
            <a:off x="3666991" y="3949802"/>
            <a:ext cx="1178718" cy="442912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7B241C"/>
                </a:solidFill>
                <a:latin typeface="Calibri"/>
              </a:rPr>
              <a:t>Obiezioni o vincoli di Struttura Informatica?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BCFFC0A-479F-2F36-4C4C-8E44E75B6695}"/>
              </a:ext>
            </a:extLst>
          </p:cNvPr>
          <p:cNvSpPr/>
          <p:nvPr/>
        </p:nvSpPr>
        <p:spPr>
          <a:xfrm>
            <a:off x="5375671" y="4143375"/>
            <a:ext cx="1143000" cy="400050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Possiamo rinnovare OIS senza Impact Call?</a:t>
            </a:r>
            <a:endParaRPr sz="1000" b="0" i="0" dirty="0">
              <a:solidFill>
                <a:srgbClr val="7B241C"/>
              </a:solidFill>
              <a:latin typeface="Calibri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36F6F80-B8CD-E17B-86BC-B21783A231D0}"/>
              </a:ext>
            </a:extLst>
          </p:cNvPr>
          <p:cNvSpPr/>
          <p:nvPr/>
        </p:nvSpPr>
        <p:spPr>
          <a:xfrm>
            <a:off x="4181341" y="3498174"/>
            <a:ext cx="642937" cy="314325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7B241C"/>
                </a:solidFill>
                <a:latin typeface="Calibri"/>
              </a:rPr>
              <a:t>Budget?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A70D0AE-434E-CDDC-D021-CEABAC688B46}"/>
              </a:ext>
            </a:extLst>
          </p:cNvPr>
          <p:cNvSpPr/>
          <p:nvPr/>
        </p:nvSpPr>
        <p:spPr>
          <a:xfrm>
            <a:off x="6700837" y="4003425"/>
            <a:ext cx="785812" cy="729154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7B241C"/>
                </a:solidFill>
                <a:latin typeface="Calibri"/>
              </a:rPr>
              <a:t>Data </a:t>
            </a:r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effettiva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SIME → EROWEB?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989CD0-FBDA-6D8D-CBAA-448F584FE826}"/>
              </a:ext>
            </a:extLst>
          </p:cNvPr>
          <p:cNvSpPr txBox="1"/>
          <p:nvPr/>
        </p:nvSpPr>
        <p:spPr>
          <a:xfrm>
            <a:off x="2357437" y="4928259"/>
            <a:ext cx="4429125" cy="15901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700" i="1" dirty="0" err="1">
                <a:solidFill>
                  <a:srgbClr val="2F5D8A"/>
                </a:solidFill>
                <a:latin typeface="Calibri"/>
              </a:rPr>
              <a:t>bordo</a:t>
            </a:r>
            <a:r>
              <a:rPr sz="700" i="1" dirty="0">
                <a:solidFill>
                  <a:srgbClr val="2F5D8A"/>
                </a:solidFill>
                <a:latin typeface="Calibri"/>
              </a:rPr>
              <a:t> </a:t>
            </a:r>
            <a:r>
              <a:rPr lang="it-IT" sz="700" i="1" dirty="0">
                <a:solidFill>
                  <a:srgbClr val="2F5D8A"/>
                </a:solidFill>
                <a:latin typeface="Calibri"/>
              </a:rPr>
              <a:t>blu </a:t>
            </a:r>
            <a:r>
              <a:rPr sz="700" i="1" dirty="0" err="1">
                <a:solidFill>
                  <a:srgbClr val="2F5D8A"/>
                </a:solidFill>
                <a:latin typeface="Calibri"/>
              </a:rPr>
              <a:t>tratteggiato</a:t>
            </a:r>
            <a:r>
              <a:rPr sz="700" i="1" dirty="0">
                <a:solidFill>
                  <a:srgbClr val="2F5D8A"/>
                </a:solidFill>
                <a:latin typeface="Calibri"/>
              </a:rPr>
              <a:t> = output </a:t>
            </a:r>
            <a:r>
              <a:rPr lang="it-IT" sz="700" i="1" dirty="0">
                <a:solidFill>
                  <a:srgbClr val="2F5D8A"/>
                </a:solidFill>
                <a:latin typeface="Calibri"/>
              </a:rPr>
              <a:t>di terzi</a:t>
            </a:r>
            <a:r>
              <a:rPr sz="700" i="1" dirty="0">
                <a:solidFill>
                  <a:srgbClr val="2F5D8A"/>
                </a:solidFill>
                <a:latin typeface="Calibri"/>
              </a:rPr>
              <a:t>   </a:t>
            </a:r>
          </a:p>
        </p:txBody>
      </p:sp>
      <p:sp>
        <p:nvSpPr>
          <p:cNvPr id="37" name="Rounded Rectangle 31">
            <a:extLst>
              <a:ext uri="{FF2B5EF4-FFF2-40B4-BE49-F238E27FC236}">
                <a16:creationId xmlns:a16="http://schemas.microsoft.com/office/drawing/2014/main" id="{D00BB81E-1C97-4A6A-6528-FCCA3F919E78}"/>
              </a:ext>
            </a:extLst>
          </p:cNvPr>
          <p:cNvSpPr/>
          <p:nvPr/>
        </p:nvSpPr>
        <p:spPr>
          <a:xfrm>
            <a:off x="5383122" y="3495835"/>
            <a:ext cx="1143000" cy="507589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 err="1">
                <a:solidFill>
                  <a:srgbClr val="7B241C"/>
                </a:solidFill>
                <a:latin typeface="Calibri"/>
              </a:rPr>
              <a:t>Possiamo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7B241C"/>
                </a:solidFill>
                <a:latin typeface="Calibri"/>
              </a:rPr>
              <a:t>scegliere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7B241C"/>
                </a:solidFill>
                <a:latin typeface="Calibri"/>
              </a:rPr>
              <a:t>fuori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da </a:t>
            </a:r>
            <a:r>
              <a:rPr lang="it-IT" sz="1000" dirty="0">
                <a:solidFill>
                  <a:srgbClr val="7B241C"/>
                </a:solidFill>
                <a:latin typeface="Calibri"/>
              </a:rPr>
              <a:t>E</a:t>
            </a:r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roweb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26698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E81165-A524-1D8F-5A5D-8BA13528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0E6655"/>
                </a:solidFill>
              </a:rPr>
              <a:t>Risultati attesi e chi li approva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D05F60-1E6C-B338-007D-2FE59739A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1" name="Sh51"/>
          <p:cNvSpPr/>
          <p:nvPr/>
        </p:nvSpPr>
        <p:spPr>
          <a:xfrm>
            <a:off x="1651000" y="1092200"/>
            <a:ext cx="7112000" cy="9906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Sh52"/>
          <p:cNvSpPr/>
          <p:nvPr/>
        </p:nvSpPr>
        <p:spPr>
          <a:xfrm>
            <a:off x="1559983" y="2609850"/>
            <a:ext cx="7112000" cy="9906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Sh53"/>
          <p:cNvSpPr/>
          <p:nvPr/>
        </p:nvSpPr>
        <p:spPr>
          <a:xfrm>
            <a:off x="1651000" y="3606800"/>
            <a:ext cx="7112000" cy="9906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Tx54"/>
          <p:cNvSpPr txBox="1"/>
          <p:nvPr/>
        </p:nvSpPr>
        <p:spPr>
          <a:xfrm>
            <a:off x="1651000" y="2133600"/>
            <a:ext cx="1198033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t-IT" sz="1600" b="1" dirty="0">
                <a:solidFill>
                  <a:srgbClr val="0E6655"/>
                </a:solidFill>
              </a:rPr>
              <a:t>2026</a:t>
            </a:r>
          </a:p>
        </p:txBody>
      </p:sp>
      <p:sp>
        <p:nvSpPr>
          <p:cNvPr id="55" name="Tx55"/>
          <p:cNvSpPr txBox="1"/>
          <p:nvPr/>
        </p:nvSpPr>
        <p:spPr>
          <a:xfrm>
            <a:off x="4021667" y="2133600"/>
            <a:ext cx="2370667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t-IT" sz="1600" b="1" dirty="0">
                <a:solidFill>
                  <a:srgbClr val="0E6655"/>
                </a:solidFill>
              </a:rPr>
              <a:t>2027</a:t>
            </a:r>
          </a:p>
        </p:txBody>
      </p:sp>
      <p:sp>
        <p:nvSpPr>
          <p:cNvPr id="56" name="Tx56"/>
          <p:cNvSpPr txBox="1"/>
          <p:nvPr/>
        </p:nvSpPr>
        <p:spPr>
          <a:xfrm>
            <a:off x="6392333" y="2133600"/>
            <a:ext cx="2370667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t-IT" sz="1600" b="1" dirty="0">
                <a:solidFill>
                  <a:srgbClr val="0E6655"/>
                </a:solidFill>
              </a:rPr>
              <a:t>2028</a:t>
            </a:r>
          </a:p>
        </p:txBody>
      </p:sp>
      <p:sp>
        <p:nvSpPr>
          <p:cNvPr id="57" name="Sh57"/>
          <p:cNvSpPr/>
          <p:nvPr/>
        </p:nvSpPr>
        <p:spPr>
          <a:xfrm flipV="1">
            <a:off x="939165" y="2470149"/>
            <a:ext cx="7823835" cy="45719"/>
          </a:xfrm>
          <a:prstGeom prst="rect">
            <a:avLst/>
          </a:prstGeom>
          <a:solidFill>
            <a:srgbClr val="0E66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Sh58"/>
          <p:cNvSpPr/>
          <p:nvPr/>
        </p:nvSpPr>
        <p:spPr>
          <a:xfrm>
            <a:off x="3412067" y="1206500"/>
            <a:ext cx="12700" cy="3556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Sh59"/>
          <p:cNvSpPr/>
          <p:nvPr/>
        </p:nvSpPr>
        <p:spPr>
          <a:xfrm>
            <a:off x="7243233" y="1104106"/>
            <a:ext cx="12700" cy="3556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60"/>
          <p:cNvSpPr/>
          <p:nvPr/>
        </p:nvSpPr>
        <p:spPr>
          <a:xfrm>
            <a:off x="2243667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Sh61"/>
          <p:cNvSpPr/>
          <p:nvPr/>
        </p:nvSpPr>
        <p:spPr>
          <a:xfrm>
            <a:off x="2836333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h62"/>
          <p:cNvSpPr/>
          <p:nvPr/>
        </p:nvSpPr>
        <p:spPr>
          <a:xfrm>
            <a:off x="3429000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Sh63"/>
          <p:cNvSpPr/>
          <p:nvPr/>
        </p:nvSpPr>
        <p:spPr>
          <a:xfrm>
            <a:off x="4614333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Sh64"/>
          <p:cNvSpPr/>
          <p:nvPr/>
        </p:nvSpPr>
        <p:spPr>
          <a:xfrm>
            <a:off x="5207000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Sh65"/>
          <p:cNvSpPr/>
          <p:nvPr/>
        </p:nvSpPr>
        <p:spPr>
          <a:xfrm>
            <a:off x="5799667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Sh66"/>
          <p:cNvSpPr/>
          <p:nvPr/>
        </p:nvSpPr>
        <p:spPr>
          <a:xfrm>
            <a:off x="6985000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Sh67"/>
          <p:cNvSpPr/>
          <p:nvPr/>
        </p:nvSpPr>
        <p:spPr>
          <a:xfrm>
            <a:off x="7577667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Sh68"/>
          <p:cNvSpPr/>
          <p:nvPr/>
        </p:nvSpPr>
        <p:spPr>
          <a:xfrm>
            <a:off x="8170333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Tx69"/>
          <p:cNvSpPr txBox="1"/>
          <p:nvPr/>
        </p:nvSpPr>
        <p:spPr>
          <a:xfrm>
            <a:off x="76200" y="1092200"/>
            <a:ext cx="1092200" cy="990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t-IT" sz="1300" b="1" dirty="0">
                <a:solidFill>
                  <a:srgbClr val="0E6655"/>
                </a:solidFill>
              </a:rPr>
              <a:t>Output</a:t>
            </a:r>
          </a:p>
        </p:txBody>
      </p:sp>
      <p:sp>
        <p:nvSpPr>
          <p:cNvPr id="70" name="Tx70"/>
          <p:cNvSpPr txBox="1"/>
          <p:nvPr/>
        </p:nvSpPr>
        <p:spPr>
          <a:xfrm>
            <a:off x="76200" y="2527300"/>
            <a:ext cx="1092200" cy="990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t-IT" sz="1300" b="1" dirty="0">
                <a:solidFill>
                  <a:srgbClr val="0E6655"/>
                </a:solidFill>
              </a:rPr>
              <a:t>Approvazione</a:t>
            </a:r>
          </a:p>
        </p:txBody>
      </p:sp>
      <p:sp>
        <p:nvSpPr>
          <p:cNvPr id="71" name="Tx71"/>
          <p:cNvSpPr txBox="1"/>
          <p:nvPr/>
        </p:nvSpPr>
        <p:spPr>
          <a:xfrm>
            <a:off x="76200" y="3606800"/>
            <a:ext cx="1092200" cy="990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t-IT" sz="1300" b="1" dirty="0">
                <a:solidFill>
                  <a:srgbClr val="0E6655"/>
                </a:solidFill>
              </a:rPr>
              <a:t>Incertezze</a:t>
            </a:r>
          </a:p>
        </p:txBody>
      </p:sp>
      <p:sp>
        <p:nvSpPr>
          <p:cNvPr id="72" name="PH72"/>
          <p:cNvSpPr/>
          <p:nvPr/>
        </p:nvSpPr>
        <p:spPr>
          <a:xfrm>
            <a:off x="1110986" y="685800"/>
            <a:ext cx="838463" cy="75565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Proposta questionario unificato</a:t>
            </a:r>
          </a:p>
        </p:txBody>
      </p:sp>
      <p:sp>
        <p:nvSpPr>
          <p:cNvPr id="73" name="PH73"/>
          <p:cNvSpPr/>
          <p:nvPr/>
        </p:nvSpPr>
        <p:spPr>
          <a:xfrm>
            <a:off x="1827741" y="1274763"/>
            <a:ext cx="659342" cy="649287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Lista requisiti tecnici</a:t>
            </a:r>
          </a:p>
        </p:txBody>
      </p:sp>
      <p:sp>
        <p:nvSpPr>
          <p:cNvPr id="74" name="PH74"/>
          <p:cNvSpPr/>
          <p:nvPr/>
        </p:nvSpPr>
        <p:spPr>
          <a:xfrm>
            <a:off x="3495037" y="790575"/>
            <a:ext cx="895350" cy="406400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Proposte 3-5 fornitori</a:t>
            </a:r>
          </a:p>
        </p:txBody>
      </p:sp>
      <p:sp>
        <p:nvSpPr>
          <p:cNvPr id="75" name="PH75"/>
          <p:cNvSpPr/>
          <p:nvPr/>
        </p:nvSpPr>
        <p:spPr>
          <a:xfrm>
            <a:off x="4406899" y="1142839"/>
            <a:ext cx="793751" cy="40640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Scelta 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Fornitore/i</a:t>
            </a:r>
          </a:p>
        </p:txBody>
      </p:sp>
      <p:sp>
        <p:nvSpPr>
          <p:cNvPr id="77" name="PH77"/>
          <p:cNvSpPr/>
          <p:nvPr/>
        </p:nvSpPr>
        <p:spPr>
          <a:xfrm>
            <a:off x="7459133" y="1625600"/>
            <a:ext cx="1185333" cy="40640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Avvio con nuovo regime</a:t>
            </a:r>
          </a:p>
        </p:txBody>
      </p:sp>
      <p:sp>
        <p:nvSpPr>
          <p:cNvPr id="78" name="PH78"/>
          <p:cNvSpPr/>
          <p:nvPr/>
        </p:nvSpPr>
        <p:spPr>
          <a:xfrm>
            <a:off x="1307041" y="2755900"/>
            <a:ext cx="400050" cy="355600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Ilaria</a:t>
            </a:r>
          </a:p>
        </p:txBody>
      </p:sp>
      <p:sp>
        <p:nvSpPr>
          <p:cNvPr id="80" name="PH80"/>
          <p:cNvSpPr/>
          <p:nvPr/>
        </p:nvSpPr>
        <p:spPr>
          <a:xfrm>
            <a:off x="5165194" y="2743037"/>
            <a:ext cx="676277" cy="501651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 &amp; IT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Cda</a:t>
            </a:r>
          </a:p>
        </p:txBody>
      </p:sp>
      <p:sp>
        <p:nvSpPr>
          <p:cNvPr id="83" name="PH83"/>
          <p:cNvSpPr/>
          <p:nvPr/>
        </p:nvSpPr>
        <p:spPr>
          <a:xfrm>
            <a:off x="1880866" y="4200525"/>
            <a:ext cx="1411818" cy="658812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Possiamo cercare </a:t>
            </a:r>
            <a:r>
              <a:rPr lang="it-IT" sz="1100" dirty="0" err="1">
                <a:solidFill>
                  <a:srgbClr val="444444"/>
                </a:solidFill>
              </a:rPr>
              <a:t>qlc</a:t>
            </a:r>
            <a:r>
              <a:rPr lang="it-IT" sz="1100" dirty="0">
                <a:solidFill>
                  <a:srgbClr val="444444"/>
                </a:solidFill>
              </a:rPr>
              <a:t> ⍯ </a:t>
            </a:r>
            <a:r>
              <a:rPr lang="it-IT" sz="1100" dirty="0" err="1">
                <a:solidFill>
                  <a:srgbClr val="444444"/>
                </a:solidFill>
              </a:rPr>
              <a:t>Strutt</a:t>
            </a:r>
            <a:r>
              <a:rPr lang="it-IT" sz="1100" dirty="0">
                <a:solidFill>
                  <a:srgbClr val="444444"/>
                </a:solidFill>
              </a:rPr>
              <a:t>. Inf.?</a:t>
            </a:r>
          </a:p>
        </p:txBody>
      </p:sp>
      <p:cxnSp>
        <p:nvCxnSpPr>
          <p:cNvPr id="4" name="Connettore diritto a freccia 3">
            <a:extLst>
              <a:ext uri="{FF2B5EF4-FFF2-40B4-BE49-F238E27FC236}">
                <a16:creationId xmlns:a16="http://schemas.microsoft.com/office/drawing/2014/main" id="{AF1901EF-1C9B-F83D-20E8-E167F6AA03B6}"/>
              </a:ext>
            </a:extLst>
          </p:cNvPr>
          <p:cNvCxnSpPr>
            <a:cxnSpLocks/>
          </p:cNvCxnSpPr>
          <p:nvPr/>
        </p:nvCxnSpPr>
        <p:spPr>
          <a:xfrm>
            <a:off x="1516592" y="1498600"/>
            <a:ext cx="0" cy="1082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PH78">
            <a:extLst>
              <a:ext uri="{FF2B5EF4-FFF2-40B4-BE49-F238E27FC236}">
                <a16:creationId xmlns:a16="http://schemas.microsoft.com/office/drawing/2014/main" id="{6F5A4DBC-700E-9367-6B39-0E1308D00E09}"/>
              </a:ext>
            </a:extLst>
          </p:cNvPr>
          <p:cNvSpPr/>
          <p:nvPr/>
        </p:nvSpPr>
        <p:spPr>
          <a:xfrm>
            <a:off x="1819275" y="2806700"/>
            <a:ext cx="724958" cy="355600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Ilaria &amp;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</a:t>
            </a:r>
          </a:p>
        </p:txBody>
      </p:sp>
      <p:cxnSp>
        <p:nvCxnSpPr>
          <p:cNvPr id="7" name="Connettore diritto a freccia 6">
            <a:extLst>
              <a:ext uri="{FF2B5EF4-FFF2-40B4-BE49-F238E27FC236}">
                <a16:creationId xmlns:a16="http://schemas.microsoft.com/office/drawing/2014/main" id="{F6E3008F-372C-D36C-AC6C-B74864B7AAE0}"/>
              </a:ext>
            </a:extLst>
          </p:cNvPr>
          <p:cNvCxnSpPr>
            <a:cxnSpLocks/>
          </p:cNvCxnSpPr>
          <p:nvPr/>
        </p:nvCxnSpPr>
        <p:spPr>
          <a:xfrm flipH="1">
            <a:off x="2181754" y="1695450"/>
            <a:ext cx="11534" cy="1060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PH73">
            <a:extLst>
              <a:ext uri="{FF2B5EF4-FFF2-40B4-BE49-F238E27FC236}">
                <a16:creationId xmlns:a16="http://schemas.microsoft.com/office/drawing/2014/main" id="{575549F5-38A2-0983-0681-AA829576BE27}"/>
              </a:ext>
            </a:extLst>
          </p:cNvPr>
          <p:cNvSpPr/>
          <p:nvPr/>
        </p:nvSpPr>
        <p:spPr>
          <a:xfrm>
            <a:off x="2561165" y="1427163"/>
            <a:ext cx="811106" cy="903287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Richiesta di proposte da 3-5 fornitori</a:t>
            </a:r>
          </a:p>
        </p:txBody>
      </p:sp>
      <p:sp>
        <p:nvSpPr>
          <p:cNvPr id="14" name="PH78">
            <a:extLst>
              <a:ext uri="{FF2B5EF4-FFF2-40B4-BE49-F238E27FC236}">
                <a16:creationId xmlns:a16="http://schemas.microsoft.com/office/drawing/2014/main" id="{06962B51-A3F5-4B1A-A59F-64A22DD8C56C}"/>
              </a:ext>
            </a:extLst>
          </p:cNvPr>
          <p:cNvSpPr/>
          <p:nvPr/>
        </p:nvSpPr>
        <p:spPr>
          <a:xfrm>
            <a:off x="2552700" y="2959100"/>
            <a:ext cx="724958" cy="539750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 &amp;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IT</a:t>
            </a:r>
          </a:p>
        </p:txBody>
      </p:sp>
      <p:cxnSp>
        <p:nvCxnSpPr>
          <p:cNvPr id="15" name="Connettore diritto a freccia 14">
            <a:extLst>
              <a:ext uri="{FF2B5EF4-FFF2-40B4-BE49-F238E27FC236}">
                <a16:creationId xmlns:a16="http://schemas.microsoft.com/office/drawing/2014/main" id="{DF42397A-6172-6D87-5E67-E4DB4F804B23}"/>
              </a:ext>
            </a:extLst>
          </p:cNvPr>
          <p:cNvCxnSpPr>
            <a:cxnSpLocks/>
          </p:cNvCxnSpPr>
          <p:nvPr/>
        </p:nvCxnSpPr>
        <p:spPr>
          <a:xfrm flipH="1">
            <a:off x="2915179" y="1847850"/>
            <a:ext cx="11534" cy="1060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Connettore diritto a freccia 15">
            <a:extLst>
              <a:ext uri="{FF2B5EF4-FFF2-40B4-BE49-F238E27FC236}">
                <a16:creationId xmlns:a16="http://schemas.microsoft.com/office/drawing/2014/main" id="{FD52F275-C911-B3C4-D483-C8DB74F2F6B3}"/>
              </a:ext>
            </a:extLst>
          </p:cNvPr>
          <p:cNvCxnSpPr>
            <a:cxnSpLocks/>
          </p:cNvCxnSpPr>
          <p:nvPr/>
        </p:nvCxnSpPr>
        <p:spPr>
          <a:xfrm>
            <a:off x="2867608" y="3629025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PH74">
            <a:extLst>
              <a:ext uri="{FF2B5EF4-FFF2-40B4-BE49-F238E27FC236}">
                <a16:creationId xmlns:a16="http://schemas.microsoft.com/office/drawing/2014/main" id="{06927342-2A69-7A2D-F9D1-ED55F8A2ECD5}"/>
              </a:ext>
            </a:extLst>
          </p:cNvPr>
          <p:cNvSpPr/>
          <p:nvPr/>
        </p:nvSpPr>
        <p:spPr>
          <a:xfrm>
            <a:off x="3484454" y="1247775"/>
            <a:ext cx="895350" cy="406400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Referenze (Acri, FOB)</a:t>
            </a:r>
          </a:p>
        </p:txBody>
      </p:sp>
      <p:sp>
        <p:nvSpPr>
          <p:cNvPr id="19" name="PH75">
            <a:extLst>
              <a:ext uri="{FF2B5EF4-FFF2-40B4-BE49-F238E27FC236}">
                <a16:creationId xmlns:a16="http://schemas.microsoft.com/office/drawing/2014/main" id="{A0E46933-E388-DAC7-2CDA-8F94D2E49B87}"/>
              </a:ext>
            </a:extLst>
          </p:cNvPr>
          <p:cNvSpPr/>
          <p:nvPr/>
        </p:nvSpPr>
        <p:spPr>
          <a:xfrm>
            <a:off x="4387848" y="1600039"/>
            <a:ext cx="793751" cy="516418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Demo candidato N1 </a:t>
            </a:r>
          </a:p>
        </p:txBody>
      </p:sp>
      <p:sp>
        <p:nvSpPr>
          <p:cNvPr id="20" name="PH75">
            <a:extLst>
              <a:ext uri="{FF2B5EF4-FFF2-40B4-BE49-F238E27FC236}">
                <a16:creationId xmlns:a16="http://schemas.microsoft.com/office/drawing/2014/main" id="{5E7AE8F5-EA71-0983-3B31-72A50DA075B4}"/>
              </a:ext>
            </a:extLst>
          </p:cNvPr>
          <p:cNvSpPr/>
          <p:nvPr/>
        </p:nvSpPr>
        <p:spPr>
          <a:xfrm>
            <a:off x="5278967" y="1274763"/>
            <a:ext cx="656167" cy="417512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Nuovo contratto</a:t>
            </a:r>
          </a:p>
        </p:txBody>
      </p:sp>
      <p:cxnSp>
        <p:nvCxnSpPr>
          <p:cNvPr id="21" name="Connettore diritto a freccia 20">
            <a:extLst>
              <a:ext uri="{FF2B5EF4-FFF2-40B4-BE49-F238E27FC236}">
                <a16:creationId xmlns:a16="http://schemas.microsoft.com/office/drawing/2014/main" id="{E66D2F39-1A8F-9934-C048-C70396DDE8E0}"/>
              </a:ext>
            </a:extLst>
          </p:cNvPr>
          <p:cNvCxnSpPr>
            <a:cxnSpLocks/>
          </p:cNvCxnSpPr>
          <p:nvPr/>
        </p:nvCxnSpPr>
        <p:spPr>
          <a:xfrm flipH="1">
            <a:off x="5506033" y="1711325"/>
            <a:ext cx="101017" cy="999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PH83">
            <a:extLst>
              <a:ext uri="{FF2B5EF4-FFF2-40B4-BE49-F238E27FC236}">
                <a16:creationId xmlns:a16="http://schemas.microsoft.com/office/drawing/2014/main" id="{42C86FFF-1E81-221C-8498-A6A510577485}"/>
              </a:ext>
            </a:extLst>
          </p:cNvPr>
          <p:cNvSpPr/>
          <p:nvPr/>
        </p:nvSpPr>
        <p:spPr>
          <a:xfrm>
            <a:off x="5156463" y="4496594"/>
            <a:ext cx="615423" cy="346075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Budget?</a:t>
            </a:r>
          </a:p>
        </p:txBody>
      </p:sp>
      <p:cxnSp>
        <p:nvCxnSpPr>
          <p:cNvPr id="24" name="Connettore diritto a freccia 23">
            <a:extLst>
              <a:ext uri="{FF2B5EF4-FFF2-40B4-BE49-F238E27FC236}">
                <a16:creationId xmlns:a16="http://schemas.microsoft.com/office/drawing/2014/main" id="{64022A33-BC30-A74D-A306-44124182F8A7}"/>
              </a:ext>
            </a:extLst>
          </p:cNvPr>
          <p:cNvCxnSpPr>
            <a:cxnSpLocks/>
          </p:cNvCxnSpPr>
          <p:nvPr/>
        </p:nvCxnSpPr>
        <p:spPr>
          <a:xfrm>
            <a:off x="5506033" y="3335580"/>
            <a:ext cx="0" cy="334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PH75">
            <a:extLst>
              <a:ext uri="{FF2B5EF4-FFF2-40B4-BE49-F238E27FC236}">
                <a16:creationId xmlns:a16="http://schemas.microsoft.com/office/drawing/2014/main" id="{AD7AFBE4-8875-446D-F407-633F9D9A8D18}"/>
              </a:ext>
            </a:extLst>
          </p:cNvPr>
          <p:cNvSpPr/>
          <p:nvPr/>
        </p:nvSpPr>
        <p:spPr>
          <a:xfrm>
            <a:off x="5607050" y="1711325"/>
            <a:ext cx="656167" cy="733425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 err="1">
                <a:solidFill>
                  <a:srgbClr val="444444"/>
                </a:solidFill>
              </a:rPr>
              <a:t>Rinegoz</a:t>
            </a:r>
            <a:r>
              <a:rPr lang="it-IT" sz="1100" dirty="0">
                <a:solidFill>
                  <a:srgbClr val="444444"/>
                </a:solidFill>
              </a:rPr>
              <a:t>. contratti (OIS?, </a:t>
            </a:r>
            <a:r>
              <a:rPr lang="it-IT" sz="1100" dirty="0" err="1">
                <a:solidFill>
                  <a:srgbClr val="444444"/>
                </a:solidFill>
              </a:rPr>
              <a:t>Infor</a:t>
            </a:r>
            <a:r>
              <a:rPr lang="it-IT" sz="1100" dirty="0">
                <a:solidFill>
                  <a:srgbClr val="444444"/>
                </a:solidFill>
              </a:rPr>
              <a:t>?)</a:t>
            </a:r>
          </a:p>
        </p:txBody>
      </p:sp>
      <p:sp>
        <p:nvSpPr>
          <p:cNvPr id="28" name="PH83">
            <a:extLst>
              <a:ext uri="{FF2B5EF4-FFF2-40B4-BE49-F238E27FC236}">
                <a16:creationId xmlns:a16="http://schemas.microsoft.com/office/drawing/2014/main" id="{3737FA12-8FD2-7DF7-C342-717AE2BD20CB}"/>
              </a:ext>
            </a:extLst>
          </p:cNvPr>
          <p:cNvSpPr/>
          <p:nvPr/>
        </p:nvSpPr>
        <p:spPr>
          <a:xfrm>
            <a:off x="5159691" y="3739988"/>
            <a:ext cx="963826" cy="686756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Struttura informatica ha  obiezioni? Vincoli? </a:t>
            </a:r>
          </a:p>
        </p:txBody>
      </p:sp>
      <p:sp>
        <p:nvSpPr>
          <p:cNvPr id="29" name="PH77">
            <a:extLst>
              <a:ext uri="{FF2B5EF4-FFF2-40B4-BE49-F238E27FC236}">
                <a16:creationId xmlns:a16="http://schemas.microsoft.com/office/drawing/2014/main" id="{7E09C824-10B8-C5A7-7DFE-59DF3458A563}"/>
              </a:ext>
            </a:extLst>
          </p:cNvPr>
          <p:cNvSpPr/>
          <p:nvPr/>
        </p:nvSpPr>
        <p:spPr>
          <a:xfrm>
            <a:off x="6302376" y="1247776"/>
            <a:ext cx="801158" cy="810892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Test nuovo sistema + 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Migrazione dati storici</a:t>
            </a:r>
          </a:p>
        </p:txBody>
      </p:sp>
      <p:cxnSp>
        <p:nvCxnSpPr>
          <p:cNvPr id="30" name="Connettore diritto a freccia 29">
            <a:extLst>
              <a:ext uri="{FF2B5EF4-FFF2-40B4-BE49-F238E27FC236}">
                <a16:creationId xmlns:a16="http://schemas.microsoft.com/office/drawing/2014/main" id="{D6C48463-BD20-8FDB-5023-6505F39734E1}"/>
              </a:ext>
            </a:extLst>
          </p:cNvPr>
          <p:cNvCxnSpPr>
            <a:cxnSpLocks/>
          </p:cNvCxnSpPr>
          <p:nvPr/>
        </p:nvCxnSpPr>
        <p:spPr>
          <a:xfrm>
            <a:off x="6658558" y="2078280"/>
            <a:ext cx="0" cy="1439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PH83">
            <a:extLst>
              <a:ext uri="{FF2B5EF4-FFF2-40B4-BE49-F238E27FC236}">
                <a16:creationId xmlns:a16="http://schemas.microsoft.com/office/drawing/2014/main" id="{F1B7D19B-4DBC-F9F1-66C8-CB41AD432E20}"/>
              </a:ext>
            </a:extLst>
          </p:cNvPr>
          <p:cNvSpPr/>
          <p:nvPr/>
        </p:nvSpPr>
        <p:spPr>
          <a:xfrm>
            <a:off x="6371958" y="3737766"/>
            <a:ext cx="741101" cy="79137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Data migrazione SIME  -&gt; Eroweb </a:t>
            </a:r>
          </a:p>
        </p:txBody>
      </p:sp>
      <p:sp>
        <p:nvSpPr>
          <p:cNvPr id="34" name="PH83">
            <a:extLst>
              <a:ext uri="{FF2B5EF4-FFF2-40B4-BE49-F238E27FC236}">
                <a16:creationId xmlns:a16="http://schemas.microsoft.com/office/drawing/2014/main" id="{459FFCDD-5BD3-010F-95E2-1439BB8E7FB0}"/>
              </a:ext>
            </a:extLst>
          </p:cNvPr>
          <p:cNvSpPr/>
          <p:nvPr/>
        </p:nvSpPr>
        <p:spPr>
          <a:xfrm>
            <a:off x="3516630" y="3664744"/>
            <a:ext cx="722311" cy="658812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Tempi risposta fornitori?</a:t>
            </a:r>
          </a:p>
        </p:txBody>
      </p:sp>
      <p:cxnSp>
        <p:nvCxnSpPr>
          <p:cNvPr id="35" name="Connettore diritto a freccia 34">
            <a:extLst>
              <a:ext uri="{FF2B5EF4-FFF2-40B4-BE49-F238E27FC236}">
                <a16:creationId xmlns:a16="http://schemas.microsoft.com/office/drawing/2014/main" id="{6F4BD934-08B5-D634-73AC-0557C414DC9B}"/>
              </a:ext>
            </a:extLst>
          </p:cNvPr>
          <p:cNvCxnSpPr>
            <a:cxnSpLocks/>
          </p:cNvCxnSpPr>
          <p:nvPr/>
        </p:nvCxnSpPr>
        <p:spPr>
          <a:xfrm>
            <a:off x="4005150" y="1687832"/>
            <a:ext cx="41818" cy="1913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PH72">
            <a:extLst>
              <a:ext uri="{FF2B5EF4-FFF2-40B4-BE49-F238E27FC236}">
                <a16:creationId xmlns:a16="http://schemas.microsoft.com/office/drawing/2014/main" id="{B54F680D-F01B-1233-2439-8FF8F3F4C296}"/>
              </a:ext>
            </a:extLst>
          </p:cNvPr>
          <p:cNvSpPr/>
          <p:nvPr/>
        </p:nvSpPr>
        <p:spPr>
          <a:xfrm>
            <a:off x="654203" y="1814671"/>
            <a:ext cx="520547" cy="515779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OK al lavoro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(oggi)</a:t>
            </a:r>
          </a:p>
        </p:txBody>
      </p:sp>
      <p:sp>
        <p:nvSpPr>
          <p:cNvPr id="39" name="PH78">
            <a:extLst>
              <a:ext uri="{FF2B5EF4-FFF2-40B4-BE49-F238E27FC236}">
                <a16:creationId xmlns:a16="http://schemas.microsoft.com/office/drawing/2014/main" id="{5C841E13-2081-AB1E-13A2-F94DDD1A0A57}"/>
              </a:ext>
            </a:extLst>
          </p:cNvPr>
          <p:cNvSpPr/>
          <p:nvPr/>
        </p:nvSpPr>
        <p:spPr>
          <a:xfrm>
            <a:off x="485775" y="3330575"/>
            <a:ext cx="724958" cy="355600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</a:t>
            </a:r>
          </a:p>
        </p:txBody>
      </p:sp>
      <p:cxnSp>
        <p:nvCxnSpPr>
          <p:cNvPr id="40" name="Connettore diritto a freccia 39">
            <a:extLst>
              <a:ext uri="{FF2B5EF4-FFF2-40B4-BE49-F238E27FC236}">
                <a16:creationId xmlns:a16="http://schemas.microsoft.com/office/drawing/2014/main" id="{552820F5-724F-ED05-BEC5-43346320C0EA}"/>
              </a:ext>
            </a:extLst>
          </p:cNvPr>
          <p:cNvCxnSpPr>
            <a:cxnSpLocks/>
          </p:cNvCxnSpPr>
          <p:nvPr/>
        </p:nvCxnSpPr>
        <p:spPr>
          <a:xfrm flipH="1">
            <a:off x="848254" y="2219325"/>
            <a:ext cx="11534" cy="1060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PH80">
            <a:extLst>
              <a:ext uri="{FF2B5EF4-FFF2-40B4-BE49-F238E27FC236}">
                <a16:creationId xmlns:a16="http://schemas.microsoft.com/office/drawing/2014/main" id="{2F73216A-1E4B-3E1A-E0FD-684AB6E28FAC}"/>
              </a:ext>
            </a:extLst>
          </p:cNvPr>
          <p:cNvSpPr/>
          <p:nvPr/>
        </p:nvSpPr>
        <p:spPr>
          <a:xfrm>
            <a:off x="4412719" y="2752562"/>
            <a:ext cx="676277" cy="501651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 &amp; IT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Cda</a:t>
            </a:r>
          </a:p>
        </p:txBody>
      </p:sp>
      <p:cxnSp>
        <p:nvCxnSpPr>
          <p:cNvPr id="42" name="Connettore diritto a freccia 41">
            <a:extLst>
              <a:ext uri="{FF2B5EF4-FFF2-40B4-BE49-F238E27FC236}">
                <a16:creationId xmlns:a16="http://schemas.microsoft.com/office/drawing/2014/main" id="{08B947E4-9C8E-8805-46F0-63C937EBF21F}"/>
              </a:ext>
            </a:extLst>
          </p:cNvPr>
          <p:cNvCxnSpPr>
            <a:cxnSpLocks/>
          </p:cNvCxnSpPr>
          <p:nvPr/>
        </p:nvCxnSpPr>
        <p:spPr>
          <a:xfrm>
            <a:off x="4714874" y="1582896"/>
            <a:ext cx="38684" cy="1137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462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8532551716]">
  <a:themeElements>
    <a:clrScheme name="Office">
      <a:dk1>
        <a:srgbClr val="333333"/>
      </a:dk1>
      <a:lt1>
        <a:srgbClr val="FFFFFF"/>
      </a:lt1>
      <a:dk2>
        <a:srgbClr val="2C5F8D"/>
      </a:dk2>
      <a:lt2>
        <a:srgbClr val="F6F6F6"/>
      </a:lt2>
      <a:accent1>
        <a:srgbClr val="4EB3A5"/>
      </a:accent1>
      <a:accent2>
        <a:srgbClr val="0E6655"/>
      </a:accent2>
      <a:accent3>
        <a:srgbClr val="7F9DB9"/>
      </a:accent3>
      <a:accent4>
        <a:srgbClr val="C0A0C8"/>
      </a:accent4>
      <a:accent5>
        <a:srgbClr val="F2C14E"/>
      </a:accent5>
      <a:accent6>
        <a:srgbClr val="E07B54"/>
      </a:accent6>
      <a:hlink>
        <a:srgbClr val="E55B4F"/>
      </a:hlink>
      <a:folHlink>
        <a:srgbClr val="9F413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2C5F8D"/>
      </a:dk2>
      <a:lt2>
        <a:srgbClr val="F6F6F6"/>
      </a:lt2>
      <a:accent1>
        <a:srgbClr val="4EB3A5"/>
      </a:accent1>
      <a:accent2>
        <a:srgbClr val="0E6655"/>
      </a:accent2>
      <a:accent3>
        <a:srgbClr val="7F9DB9"/>
      </a:accent3>
      <a:accent4>
        <a:srgbClr val="C0A0C8"/>
      </a:accent4>
      <a:accent5>
        <a:srgbClr val="F2C14E"/>
      </a:accent5>
      <a:accent6>
        <a:srgbClr val="E07B54"/>
      </a:accent6>
      <a:hlink>
        <a:srgbClr val="E55B4F"/>
      </a:hlink>
      <a:folHlink>
        <a:srgbClr val="9F4136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8F5DC0-49B8-9146-8BA7-52CC5E6E3DE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0bc0e30-bc41-4468-9c1f-3c5f807f4b5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2288</TotalTime>
  <Words>1300</Words>
  <Application>Microsoft Macintosh PowerPoint</Application>
  <PresentationFormat>Presentazione su schermo (16:9)</PresentationFormat>
  <Paragraphs>278</Paragraphs>
  <Slides>9</Slides>
  <Notes>9</Notes>
  <HiddenSlides>2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 [1788532551716]</vt:lpstr>
      <vt:lpstr>Proposta di integrare 2 sistemi di monitoraggio e valutazione in un UNICO SISTEMA</vt:lpstr>
      <vt:lpstr>Perché e perché adesso</vt:lpstr>
      <vt:lpstr>Presentazione standard di PowerPoint</vt:lpstr>
      <vt:lpstr>Presentazione standard di PowerPoint</vt:lpstr>
      <vt:lpstr>Cronogramma dettagliato attività </vt:lpstr>
      <vt:lpstr>Flusso di lavoro MO.V.O.T al 2026</vt:lpstr>
      <vt:lpstr>ANNESSO</vt:lpstr>
      <vt:lpstr>Presentazione standard di PowerPoint</vt:lpstr>
      <vt:lpstr>Risultati attesi e chi li approva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Luisa Mimmi</cp:lastModifiedBy>
  <cp:revision>47</cp:revision>
  <cp:lastPrinted>2026-09-08T13:47:06Z</cp:lastPrinted>
  <dcterms:created xsi:type="dcterms:W3CDTF">2013-01-27T09:14:16Z</dcterms:created>
  <dcterms:modified xsi:type="dcterms:W3CDTF">2026-09-09T15:19:26Z</dcterms:modified>
  <cp:category/>
</cp:coreProperties>
</file>